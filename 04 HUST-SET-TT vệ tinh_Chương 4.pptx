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912" r:id="rId4"/>
  </p:sldMasterIdLst>
  <p:notesMasterIdLst>
    <p:notesMasterId r:id="rId24"/>
  </p:notesMasterIdLst>
  <p:handoutMasterIdLst>
    <p:handoutMasterId r:id="rId25"/>
  </p:handoutMasterIdLst>
  <p:sldIdLst>
    <p:sldId id="256" r:id="rId5"/>
    <p:sldId id="325" r:id="rId6"/>
    <p:sldId id="322" r:id="rId7"/>
    <p:sldId id="385" r:id="rId8"/>
    <p:sldId id="387" r:id="rId9"/>
    <p:sldId id="386" r:id="rId10"/>
    <p:sldId id="388" r:id="rId11"/>
    <p:sldId id="389" r:id="rId12"/>
    <p:sldId id="390" r:id="rId13"/>
    <p:sldId id="392" r:id="rId14"/>
    <p:sldId id="393" r:id="rId15"/>
    <p:sldId id="394" r:id="rId16"/>
    <p:sldId id="400" r:id="rId17"/>
    <p:sldId id="401" r:id="rId18"/>
    <p:sldId id="395" r:id="rId19"/>
    <p:sldId id="396" r:id="rId20"/>
    <p:sldId id="397" r:id="rId21"/>
    <p:sldId id="398" r:id="rId22"/>
    <p:sldId id="399" r:id="rId23"/>
  </p:sldIdLst>
  <p:sldSz cx="9144000" cy="6858000" type="screen4x3"/>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Minh Phuoc" initials="NMP" lastIdx="1" clrIdx="0">
    <p:extLst>
      <p:ext uri="{19B8F6BF-5375-455C-9EA6-DF929625EA0E}">
        <p15:presenceInfo xmlns:p15="http://schemas.microsoft.com/office/powerpoint/2012/main" userId="Ngo Minh Phuo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E764A-E708-F947-A48C-DECAAECD3B74}" v="2" dt="2025-02-08T09:17:41.6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Quang Truong 20204446" userId="S::truong.nq204446@sis.hust.edu.vn::a3101102-f416-4c95-a4d4-fba008189d22" providerId="AD" clId="Web-{203E764A-E708-F947-A48C-DECAAECD3B74}"/>
    <pc:docChg chg="modSld">
      <pc:chgData name="Nguyen Quang Truong 20204446" userId="S::truong.nq204446@sis.hust.edu.vn::a3101102-f416-4c95-a4d4-fba008189d22" providerId="AD" clId="Web-{203E764A-E708-F947-A48C-DECAAECD3B74}" dt="2025-02-08T09:17:41.678" v="1" actId="1076"/>
      <pc:docMkLst>
        <pc:docMk/>
      </pc:docMkLst>
      <pc:sldChg chg="modSp">
        <pc:chgData name="Nguyen Quang Truong 20204446" userId="S::truong.nq204446@sis.hust.edu.vn::a3101102-f416-4c95-a4d4-fba008189d22" providerId="AD" clId="Web-{203E764A-E708-F947-A48C-DECAAECD3B74}" dt="2025-02-08T09:17:41.678" v="1" actId="1076"/>
        <pc:sldMkLst>
          <pc:docMk/>
          <pc:sldMk cId="2355375388" sldId="322"/>
        </pc:sldMkLst>
        <pc:picChg chg="mod">
          <ac:chgData name="Nguyen Quang Truong 20204446" userId="S::truong.nq204446@sis.hust.edu.vn::a3101102-f416-4c95-a4d4-fba008189d22" providerId="AD" clId="Web-{203E764A-E708-F947-A48C-DECAAECD3B74}" dt="2025-02-08T09:17:41.678" v="1" actId="1076"/>
          <ac:picMkLst>
            <pc:docMk/>
            <pc:sldMk cId="2355375388" sldId="322"/>
            <ac:picMk id="2"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212953-CB91-BC47-88D1-BBBE82DC2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1A0CA16-40A2-9C40-8E59-791F5FFE04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CF2C7B-E7AE-D442-BF2E-6CA2CF3C01D2}" type="datetimeFigureOut">
              <a:rPr lang="en-US" smtClean="0"/>
              <a:t>2/8/2025</a:t>
            </a:fld>
            <a:endParaRPr lang="en-US"/>
          </a:p>
        </p:txBody>
      </p:sp>
      <p:sp>
        <p:nvSpPr>
          <p:cNvPr id="4" name="Footer Placeholder 3">
            <a:extLst>
              <a:ext uri="{FF2B5EF4-FFF2-40B4-BE49-F238E27FC236}">
                <a16:creationId xmlns:a16="http://schemas.microsoft.com/office/drawing/2014/main" id="{8110C1D6-A161-7E42-A6FE-4EACC0D5E5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373EB5F-A1DC-0B47-9E91-E08F9B0650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CB0B931-B215-6847-8C0F-1B4B51964FC2}" type="slidenum">
              <a:rPr lang="en-US" smtClean="0"/>
              <a:t>‹#›</a:t>
            </a:fld>
            <a:endParaRPr lang="en-US"/>
          </a:p>
        </p:txBody>
      </p:sp>
    </p:spTree>
    <p:extLst>
      <p:ext uri="{BB962C8B-B14F-4D97-AF65-F5344CB8AC3E}">
        <p14:creationId xmlns:p14="http://schemas.microsoft.com/office/powerpoint/2010/main" val="934128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6628C3-B4FC-7A4F-B985-13EC65DF1457}" type="datetimeFigureOut">
              <a:rPr lang="en-US" smtClean="0"/>
              <a:t>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82783F-DCC3-304A-B867-3F455E5FA1DF}" type="slidenum">
              <a:rPr lang="en-US" smtClean="0"/>
              <a:t>‹#›</a:t>
            </a:fld>
            <a:endParaRPr lang="en-US"/>
          </a:p>
        </p:txBody>
      </p:sp>
    </p:spTree>
    <p:extLst>
      <p:ext uri="{BB962C8B-B14F-4D97-AF65-F5344CB8AC3E}">
        <p14:creationId xmlns:p14="http://schemas.microsoft.com/office/powerpoint/2010/main" val="13781919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82783F-DCC3-304A-B867-3F455E5FA1DF}" type="slidenum">
              <a:rPr lang="en-US" smtClean="0"/>
              <a:t>0</a:t>
            </a:fld>
            <a:endParaRPr lang="en-US"/>
          </a:p>
        </p:txBody>
      </p:sp>
    </p:spTree>
    <p:extLst>
      <p:ext uri="{BB962C8B-B14F-4D97-AF65-F5344CB8AC3E}">
        <p14:creationId xmlns:p14="http://schemas.microsoft.com/office/powerpoint/2010/main" val="280959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882783F-DCC3-304A-B867-3F455E5FA1DF}" type="slidenum">
              <a:rPr lang="en-US" smtClean="0"/>
              <a:t>11</a:t>
            </a:fld>
            <a:endParaRPr lang="en-US"/>
          </a:p>
        </p:txBody>
      </p:sp>
    </p:spTree>
    <p:extLst>
      <p:ext uri="{BB962C8B-B14F-4D97-AF65-F5344CB8AC3E}">
        <p14:creationId xmlns:p14="http://schemas.microsoft.com/office/powerpoint/2010/main" val="2804298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9F31A79-46D9-F342-91B9-FCB91961B94C}" type="datetime4">
              <a:rPr lang="en-US" smtClean="0"/>
              <a:t>February 8, 2025</a:t>
            </a:fld>
            <a:endParaRPr lang="en-US"/>
          </a:p>
        </p:txBody>
      </p:sp>
      <p:sp>
        <p:nvSpPr>
          <p:cNvPr id="5" name="Footer Placeholder 4"/>
          <p:cNvSpPr>
            <a:spLocks noGrp="1"/>
          </p:cNvSpPr>
          <p:nvPr>
            <p:ph type="ftr" sz="quarter" idx="11"/>
          </p:nvPr>
        </p:nvSpPr>
        <p:spPr/>
        <p:txBody>
          <a:bodyPr/>
          <a:lstStyle/>
          <a:p>
            <a:r>
              <a:rPr lang="en-US"/>
              <a:t>BÀI 1: KHÁI NIỆM CHUNG VỀ ĐIỆN TỬ CÔNG SUẤT</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F38DF745-7D3F-47F4-83A3-874385CFAA6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alphaModFix amt="2000"/>
            <a:lum/>
          </a:blip>
          <a:srcRect/>
          <a:stretch>
            <a:fillRect l="-4000" r="-4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0484"/>
            <a:ext cx="5442155" cy="4835680"/>
          </a:xfrm>
        </p:spPr>
        <p:txBody>
          <a:bodyPr/>
          <a:lstStyle>
            <a:lvl1pPr marL="457200" indent="-457200">
              <a:buFont typeface="+mj-lt"/>
              <a:buAutoNum type="arabicPeriod"/>
              <a:defRPr>
                <a:latin typeface="+mn-lt"/>
              </a:defRPr>
            </a:lvl1pPr>
            <a:lvl2pPr marL="457200" indent="-182880">
              <a:buFont typeface="Wingdings" panose="05000000000000000000" pitchFamily="2" charset="2"/>
              <a:buChar char="v"/>
              <a:defRPr>
                <a:latin typeface="+mn-lt"/>
              </a:defRPr>
            </a:lvl2pPr>
            <a:lvl3pPr marL="1143000" indent="-228600">
              <a:buFont typeface="Wingdings" panose="05000000000000000000" pitchFamily="2" charset="2"/>
              <a:buChar char="Ø"/>
              <a:defRPr>
                <a:latin typeface="+mn-lt"/>
              </a:defRPr>
            </a:lvl3pPr>
            <a:lvl4pPr marL="1600200" indent="-228600">
              <a:buFont typeface="Wingdings" panose="05000000000000000000" pitchFamily="2" charset="2"/>
              <a:buChar char="ü"/>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10DE96-4665-3342-B5C2-E6BD4AB19EDE}" type="datetime4">
              <a:rPr lang="en-US" smtClean="0"/>
              <a:t>February 8, 2025</a:t>
            </a:fld>
            <a:endParaRPr lang="en-US"/>
          </a:p>
        </p:txBody>
      </p:sp>
      <p:sp>
        <p:nvSpPr>
          <p:cNvPr id="5" name="Footer Placeholder 4"/>
          <p:cNvSpPr>
            <a:spLocks noGrp="1"/>
          </p:cNvSpPr>
          <p:nvPr>
            <p:ph type="ftr" sz="quarter" idx="11"/>
          </p:nvPr>
        </p:nvSpPr>
        <p:spPr/>
        <p:txBody>
          <a:bodyPr/>
          <a:lstStyle/>
          <a:p>
            <a:r>
              <a:rPr lang="en-US"/>
              <a:t>BÀI 1: KHÁI NIỆM CHUNG VỀ ĐIỆN TỬ CÔNG SUẤT</a:t>
            </a:r>
          </a:p>
        </p:txBody>
      </p:sp>
      <p:sp>
        <p:nvSpPr>
          <p:cNvPr id="6" name="Slide Number Placeholder 5"/>
          <p:cNvSpPr>
            <a:spLocks noGrp="1"/>
          </p:cNvSpPr>
          <p:nvPr>
            <p:ph type="sldNum" sz="quarter" idx="12"/>
          </p:nvPr>
        </p:nvSpPr>
        <p:spPr>
          <a:xfrm>
            <a:off x="8028939" y="6492875"/>
            <a:ext cx="1315721" cy="365125"/>
          </a:xfrm>
        </p:spPr>
        <p:txBody>
          <a:bodyPr/>
          <a:lstStyle/>
          <a:p>
            <a:fld id="{F38DF745-7D3F-47F4-83A3-874385CFAA69}" type="slidenum">
              <a:rPr lang="en-US" smtClean="0"/>
              <a:pPr/>
              <a:t>‹#›</a:t>
            </a:fld>
            <a:endParaRPr lang="en-US"/>
          </a:p>
        </p:txBody>
      </p:sp>
      <p:pic>
        <p:nvPicPr>
          <p:cNvPr id="12" name="Picture 11">
            <a:extLst>
              <a:ext uri="{FF2B5EF4-FFF2-40B4-BE49-F238E27FC236}">
                <a16:creationId xmlns:a16="http://schemas.microsoft.com/office/drawing/2014/main" id="{F2E2DE48-AF62-2742-AED4-8694825AC790}"/>
              </a:ext>
            </a:extLst>
          </p:cNvPr>
          <p:cNvPicPr>
            <a:picLocks noChangeAspect="1"/>
          </p:cNvPicPr>
          <p:nvPr userDrawn="1"/>
        </p:nvPicPr>
        <p:blipFill>
          <a:blip r:embed="rId3"/>
          <a:stretch>
            <a:fillRect/>
          </a:stretch>
        </p:blipFill>
        <p:spPr>
          <a:xfrm>
            <a:off x="89210" y="81280"/>
            <a:ext cx="570920" cy="84249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0DCAB4-CD83-4849-857B-BDD391173525}" type="datetime4">
              <a:rPr lang="en-US" smtClean="0"/>
              <a:t>February 8, 2025</a:t>
            </a:fld>
            <a:endParaRPr lang="en-US"/>
          </a:p>
        </p:txBody>
      </p:sp>
      <p:sp>
        <p:nvSpPr>
          <p:cNvPr id="8" name="Footer Placeholder 7"/>
          <p:cNvSpPr>
            <a:spLocks noGrp="1"/>
          </p:cNvSpPr>
          <p:nvPr>
            <p:ph type="ftr" sz="quarter" idx="11"/>
          </p:nvPr>
        </p:nvSpPr>
        <p:spPr/>
        <p:txBody>
          <a:bodyPr/>
          <a:lstStyle/>
          <a:p>
            <a:r>
              <a:rPr lang="en-US"/>
              <a:t>BÀI 1: KHÁI NIỆM CHUNG VỀ ĐIỆN TỬ CÔNG SUẤT</a:t>
            </a:r>
          </a:p>
        </p:txBody>
      </p:sp>
      <p:sp>
        <p:nvSpPr>
          <p:cNvPr id="9" name="Slide Number Placeholder 8"/>
          <p:cNvSpPr>
            <a:spLocks noGrp="1"/>
          </p:cNvSpPr>
          <p:nvPr>
            <p:ph type="sldNum" sz="quarter" idx="12"/>
          </p:nvPr>
        </p:nvSpPr>
        <p:spPr/>
        <p:txBody>
          <a:bodyPr/>
          <a:lstStyle/>
          <a:p>
            <a:fld id="{F38DF745-7D3F-47F4-83A3-874385CFAA6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56CA07C-B2BD-D84F-9EF3-9ADAE6BB64A5}" type="datetime4">
              <a:rPr lang="en-US" smtClean="0"/>
              <a:t>February 8, 2025</a:t>
            </a:fld>
            <a:endParaRPr lang="en-US"/>
          </a:p>
        </p:txBody>
      </p:sp>
      <p:sp>
        <p:nvSpPr>
          <p:cNvPr id="4" name="Footer Placeholder 3"/>
          <p:cNvSpPr>
            <a:spLocks noGrp="1"/>
          </p:cNvSpPr>
          <p:nvPr>
            <p:ph type="ftr" sz="quarter" idx="11"/>
          </p:nvPr>
        </p:nvSpPr>
        <p:spPr/>
        <p:txBody>
          <a:bodyPr/>
          <a:lstStyle/>
          <a:p>
            <a:r>
              <a:rPr lang="en-US"/>
              <a:t>BÀI 1: KHÁI NIỆM CHUNG VỀ ĐIỆN TỬ CÔNG SUẤT</a:t>
            </a:r>
          </a:p>
        </p:txBody>
      </p:sp>
      <p:sp>
        <p:nvSpPr>
          <p:cNvPr id="5" name="Slide Number Placeholder 4"/>
          <p:cNvSpPr>
            <a:spLocks noGrp="1"/>
          </p:cNvSpPr>
          <p:nvPr>
            <p:ph type="sldNum" sz="quarter" idx="12"/>
          </p:nvPr>
        </p:nvSpPr>
        <p:spPr/>
        <p:txBody>
          <a:bodyPr/>
          <a:lstStyle/>
          <a:p>
            <a:fld id="{F38DF745-7D3F-47F4-83A3-874385CFAA6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ABB697-578A-ED45-A0A0-FEB252785680}" type="datetime4">
              <a:rPr lang="en-US" smtClean="0"/>
              <a:t>February 8, 2025</a:t>
            </a:fld>
            <a:endParaRPr lang="en-US"/>
          </a:p>
        </p:txBody>
      </p:sp>
      <p:sp>
        <p:nvSpPr>
          <p:cNvPr id="3" name="Footer Placeholder 2"/>
          <p:cNvSpPr>
            <a:spLocks noGrp="1"/>
          </p:cNvSpPr>
          <p:nvPr>
            <p:ph type="ftr" sz="quarter" idx="11"/>
          </p:nvPr>
        </p:nvSpPr>
        <p:spPr/>
        <p:txBody>
          <a:bodyPr/>
          <a:lstStyle/>
          <a:p>
            <a:r>
              <a:rPr lang="en-US"/>
              <a:t>BÀI 1: KHÁI NIỆM CHUNG VỀ ĐIỆN TỬ CÔNG SUẤT</a:t>
            </a:r>
          </a:p>
        </p:txBody>
      </p:sp>
      <p:sp>
        <p:nvSpPr>
          <p:cNvPr id="4" name="Slide Number Placeholder 3"/>
          <p:cNvSpPr>
            <a:spLocks noGrp="1"/>
          </p:cNvSpPr>
          <p:nvPr>
            <p:ph type="sldNum" sz="quarter" idx="12"/>
          </p:nvPr>
        </p:nvSpPr>
        <p:spPr/>
        <p:txBody>
          <a:bodyPr/>
          <a:lstStyle/>
          <a:p>
            <a:fld id="{F38DF745-7D3F-47F4-83A3-874385CFAA69}" type="slidenum">
              <a:rPr lang="en-US" smtClean="0"/>
              <a:pPr/>
              <a:t>‹#›</a:t>
            </a:fld>
            <a:endParaRPr lang="en-US"/>
          </a:p>
        </p:txBody>
      </p:sp>
      <p:grpSp>
        <p:nvGrpSpPr>
          <p:cNvPr id="6" name="Group 5">
            <a:extLst>
              <a:ext uri="{FF2B5EF4-FFF2-40B4-BE49-F238E27FC236}">
                <a16:creationId xmlns:a16="http://schemas.microsoft.com/office/drawing/2014/main" id="{3ACFA6E0-3A4B-4F49-B5B4-D73EA8DC47C6}"/>
              </a:ext>
            </a:extLst>
          </p:cNvPr>
          <p:cNvGrpSpPr/>
          <p:nvPr userDrawn="1"/>
        </p:nvGrpSpPr>
        <p:grpSpPr>
          <a:xfrm>
            <a:off x="0" y="0"/>
            <a:ext cx="9144000" cy="1042681"/>
            <a:chOff x="0" y="0"/>
            <a:chExt cx="9144000" cy="1042681"/>
          </a:xfrm>
        </p:grpSpPr>
        <p:sp>
          <p:nvSpPr>
            <p:cNvPr id="7" name="Rectangle 6">
              <a:extLst>
                <a:ext uri="{FF2B5EF4-FFF2-40B4-BE49-F238E27FC236}">
                  <a16:creationId xmlns:a16="http://schemas.microsoft.com/office/drawing/2014/main" id="{1F0D7021-AC0A-468C-BA9B-0FB54B5CF157}"/>
                </a:ext>
              </a:extLst>
            </p:cNvPr>
            <p:cNvSpPr/>
            <p:nvPr userDrawn="1"/>
          </p:nvSpPr>
          <p:spPr>
            <a:xfrm>
              <a:off x="0" y="0"/>
              <a:ext cx="9144000" cy="1042681"/>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1095F1D-3AA8-4C3D-94A3-0E8298F892BD}"/>
                </a:ext>
              </a:extLst>
            </p:cNvPr>
            <p:cNvPicPr>
              <a:picLocks noChangeAspect="1"/>
            </p:cNvPicPr>
            <p:nvPr userDrawn="1"/>
          </p:nvPicPr>
          <p:blipFill>
            <a:blip r:embed="rId2"/>
            <a:stretch>
              <a:fillRect/>
            </a:stretch>
          </p:blipFill>
          <p:spPr>
            <a:xfrm>
              <a:off x="134919" y="66372"/>
              <a:ext cx="606650" cy="909976"/>
            </a:xfrm>
            <a:prstGeom prst="rect">
              <a:avLst/>
            </a:prstGeom>
          </p:spPr>
        </p:pic>
      </p:grpSp>
      <p:sp>
        <p:nvSpPr>
          <p:cNvPr id="9" name="Title 1">
            <a:extLst>
              <a:ext uri="{FF2B5EF4-FFF2-40B4-BE49-F238E27FC236}">
                <a16:creationId xmlns:a16="http://schemas.microsoft.com/office/drawing/2014/main" id="{2E8139E5-4D1A-499F-9530-F67E94387D4F}"/>
              </a:ext>
            </a:extLst>
          </p:cNvPr>
          <p:cNvSpPr txBox="1">
            <a:spLocks/>
          </p:cNvSpPr>
          <p:nvPr userDrawn="1"/>
        </p:nvSpPr>
        <p:spPr>
          <a:xfrm>
            <a:off x="1076632" y="66374"/>
            <a:ext cx="7808605" cy="730040"/>
          </a:xfrm>
          <a:prstGeom prst="rect">
            <a:avLst/>
          </a:prstGeom>
        </p:spPr>
        <p:txBody>
          <a:bodyPr vert="horz" lIns="91440" tIns="45720" rIns="91440" bIns="45720" rtlCol="0" anchor="b">
            <a:noAutofit/>
          </a:bodyPr>
          <a:lstStyle>
            <a:lvl1pPr algn="l" defTabSz="914400" rtl="0" eaLnBrk="1" latinLnBrk="0" hangingPunct="1">
              <a:spcBef>
                <a:spcPct val="0"/>
              </a:spcBef>
              <a:buNone/>
              <a:defRPr sz="3200" b="0" i="0" u="none" kern="1200" cap="all" spc="-60" baseline="0">
                <a:solidFill>
                  <a:schemeClr val="bg1"/>
                </a:solidFill>
                <a:latin typeface="+mn-lt"/>
                <a:ea typeface="+mj-ea"/>
                <a:cs typeface="+mj-cs"/>
              </a:defRPr>
            </a:lvl1p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88E04D-4265-DB44-8105-69941C12B53E}" type="datetime4">
              <a:rPr lang="en-US" smtClean="0"/>
              <a:t>February 8, 2025</a:t>
            </a:fld>
            <a:endParaRPr lang="en-US"/>
          </a:p>
        </p:txBody>
      </p:sp>
      <p:sp>
        <p:nvSpPr>
          <p:cNvPr id="6" name="Footer Placeholder 5"/>
          <p:cNvSpPr>
            <a:spLocks noGrp="1"/>
          </p:cNvSpPr>
          <p:nvPr>
            <p:ph type="ftr" sz="quarter" idx="11"/>
          </p:nvPr>
        </p:nvSpPr>
        <p:spPr/>
        <p:txBody>
          <a:bodyPr/>
          <a:lstStyle/>
          <a:p>
            <a:r>
              <a:rPr lang="en-US"/>
              <a:t>BÀI 1: KHÁI NIỆM CHUNG VỀ ĐIỆN TỬ CÔNG SUẤT</a:t>
            </a:r>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FC0BAF-B72B-8C47-9F5D-09B79899845D}" type="datetime4">
              <a:rPr lang="en-US" smtClean="0"/>
              <a:t>February 8, 2025</a:t>
            </a:fld>
            <a:endParaRPr lang="en-US"/>
          </a:p>
        </p:txBody>
      </p:sp>
      <p:sp>
        <p:nvSpPr>
          <p:cNvPr id="6" name="Footer Placeholder 5"/>
          <p:cNvSpPr>
            <a:spLocks noGrp="1"/>
          </p:cNvSpPr>
          <p:nvPr>
            <p:ph type="ftr" sz="quarter" idx="11"/>
          </p:nvPr>
        </p:nvSpPr>
        <p:spPr/>
        <p:txBody>
          <a:bodyPr/>
          <a:lstStyle/>
          <a:p>
            <a:r>
              <a:rPr lang="en-US"/>
              <a:t>BÀI 1: KHÁI NIỆM CHUNG VỀ ĐIỆN TỬ CÔNG SUẤT</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F38DF745-7D3F-47F4-83A3-874385CFAA69}" type="slidenum">
              <a:rPr lang="en-US" smtClean="0"/>
              <a:pPr/>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a:t>Click to edit Master title style</a:t>
            </a:r>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24D48E-EE09-5147-AE86-E952991378CE}" type="datetime4">
              <a:rPr lang="en-US" smtClean="0"/>
              <a:t>February 8, 2025</a:t>
            </a:fld>
            <a:endParaRPr lang="en-US"/>
          </a:p>
        </p:txBody>
      </p:sp>
      <p:sp>
        <p:nvSpPr>
          <p:cNvPr id="5" name="Footer Placeholder 4"/>
          <p:cNvSpPr>
            <a:spLocks noGrp="1"/>
          </p:cNvSpPr>
          <p:nvPr>
            <p:ph type="ftr" sz="quarter" idx="11"/>
          </p:nvPr>
        </p:nvSpPr>
        <p:spPr/>
        <p:txBody>
          <a:bodyPr/>
          <a:lstStyle/>
          <a:p>
            <a:r>
              <a:rPr lang="en-US"/>
              <a:t>BÀI 1: KHÁI NIỆM CHUNG VỀ ĐIỆN TỬ CÔNG SUẤT</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B4FC4D-02BC-3D49-9A16-C40C6CA8F520}" type="datetime4">
              <a:rPr lang="en-US" smtClean="0"/>
              <a:t>February 8, 2025</a:t>
            </a:fld>
            <a:endParaRPr lang="en-US"/>
          </a:p>
        </p:txBody>
      </p:sp>
      <p:sp>
        <p:nvSpPr>
          <p:cNvPr id="5" name="Footer Placeholder 4"/>
          <p:cNvSpPr>
            <a:spLocks noGrp="1"/>
          </p:cNvSpPr>
          <p:nvPr>
            <p:ph type="ftr" sz="quarter" idx="11"/>
          </p:nvPr>
        </p:nvSpPr>
        <p:spPr/>
        <p:txBody>
          <a:bodyPr/>
          <a:lstStyle/>
          <a:p>
            <a:r>
              <a:rPr lang="en-US"/>
              <a:t>BÀI 1: KHÁI NIỆM CHUNG VỀ ĐIỆN TỬ CÔNG SUẤT</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mt="300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7620000" cy="13716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BE1CA3E8-B6D8-3B41-B374-4560F909FBCB}" type="datetime4">
              <a:rPr lang="en-US" smtClean="0"/>
              <a:t>February 8, 2025</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r>
              <a:rPr lang="en-US"/>
              <a:t>BÀI 1: KHÁI NIỆM CHUNG VỀ ĐIỆN TỬ CÔNG SUẤT</a:t>
            </a:r>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F38DF745-7D3F-47F4-83A3-874385CFAA6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7" r:id="rId3"/>
    <p:sldLayoutId id="2147483918" r:id="rId4"/>
    <p:sldLayoutId id="2147483919" r:id="rId5"/>
    <p:sldLayoutId id="2147483920" r:id="rId6"/>
    <p:sldLayoutId id="2147483921" r:id="rId7"/>
    <p:sldLayoutId id="2147483922" r:id="rId8"/>
    <p:sldLayoutId id="2147483923" r:id="rId9"/>
  </p:sldLayoutIdLst>
  <p:hf hdr="0" dt="0"/>
  <p:txStyles>
    <p:titleStyle>
      <a:lvl1pPr algn="l" defTabSz="914400" rtl="0" eaLnBrk="1" latinLnBrk="0" hangingPunct="1">
        <a:spcBef>
          <a:spcPct val="0"/>
        </a:spcBef>
        <a:buNone/>
        <a:defRPr sz="3600" b="0" i="0" u="none"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b="0" i="0" u="none"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1550" y="5760294"/>
            <a:ext cx="8700899" cy="1177831"/>
          </a:xfrm>
        </p:spPr>
        <p:txBody>
          <a:bodyPr>
            <a:normAutofit fontScale="92500" lnSpcReduction="20000"/>
          </a:bodyPr>
          <a:lstStyle/>
          <a:p>
            <a:pPr algn="ctr"/>
            <a:r>
              <a:rPr lang="vi-VN" sz="2600" b="1">
                <a:solidFill>
                  <a:srgbClr val="002060"/>
                </a:solidFill>
                <a:latin typeface="Arial Unicode MS"/>
              </a:rPr>
              <a:t> T</a:t>
            </a:r>
            <a:r>
              <a:rPr lang="en-US" sz="2600" b="1">
                <a:solidFill>
                  <a:srgbClr val="002060"/>
                </a:solidFill>
                <a:latin typeface="Arial Unicode MS"/>
              </a:rPr>
              <a:t>HÔNG TIN VỆ TINH</a:t>
            </a:r>
          </a:p>
          <a:p>
            <a:pPr algn="ctr"/>
            <a:r>
              <a:rPr lang="en-US" b="1" err="1">
                <a:solidFill>
                  <a:srgbClr val="002060"/>
                </a:solidFill>
                <a:latin typeface="Times New Roman" panose="02020603050405020304" pitchFamily="18" charset="0"/>
                <a:cs typeface="Times New Roman" panose="02020603050405020304" pitchFamily="18" charset="0"/>
              </a:rPr>
              <a:t>Bài</a:t>
            </a:r>
            <a:r>
              <a:rPr lang="en-US" b="1">
                <a:solidFill>
                  <a:srgbClr val="002060"/>
                </a:solidFill>
                <a:latin typeface="Times New Roman" panose="02020603050405020304" pitchFamily="18" charset="0"/>
                <a:cs typeface="Times New Roman" panose="02020603050405020304" pitchFamily="18" charset="0"/>
              </a:rPr>
              <a:t> 4. </a:t>
            </a:r>
            <a:r>
              <a:rPr lang="vi-VN" b="1">
                <a:solidFill>
                  <a:srgbClr val="002060"/>
                </a:solidFill>
                <a:latin typeface="Times New Roman" panose="02020603050405020304" pitchFamily="18" charset="0"/>
                <a:cs typeface="Times New Roman" panose="02020603050405020304" pitchFamily="18" charset="0"/>
              </a:rPr>
              <a:t>Chương</a:t>
            </a:r>
            <a:r>
              <a:rPr lang="en-US" b="1">
                <a:solidFill>
                  <a:srgbClr val="002060"/>
                </a:solidFill>
                <a:latin typeface="Times New Roman" panose="02020603050405020304" pitchFamily="18" charset="0"/>
                <a:cs typeface="Times New Roman" panose="02020603050405020304" pitchFamily="18" charset="0"/>
              </a:rPr>
              <a:t> 4.</a:t>
            </a:r>
            <a:r>
              <a:rPr lang="vi-VN" b="1">
                <a:solidFill>
                  <a:srgbClr val="002060"/>
                </a:solidFill>
                <a:latin typeface="Times New Roman" panose="02020603050405020304" pitchFamily="18" charset="0"/>
                <a:cs typeface="Times New Roman" panose="02020603050405020304" pitchFamily="18" charset="0"/>
              </a:rPr>
              <a:t> </a:t>
            </a:r>
            <a:r>
              <a:rPr lang="en-US" b="1">
                <a:solidFill>
                  <a:srgbClr val="002060"/>
                </a:solidFill>
                <a:latin typeface="Times New Roman" panose="02020603050405020304" pitchFamily="18" charset="0"/>
                <a:cs typeface="Times New Roman" panose="02020603050405020304" pitchFamily="18" charset="0"/>
              </a:rPr>
              <a:t>THIẾT KẾ TUYẾN TT VỆ TINH</a:t>
            </a:r>
            <a:r>
              <a:rPr lang="vi-VN" b="1">
                <a:solidFill>
                  <a:srgbClr val="002060"/>
                </a:solidFill>
                <a:latin typeface="Times New Roman" panose="02020603050405020304" pitchFamily="18" charset="0"/>
                <a:cs typeface="Times New Roman" panose="02020603050405020304" pitchFamily="18" charset="0"/>
              </a:rPr>
              <a:t> </a:t>
            </a:r>
            <a:endParaRPr lang="en-US" b="1">
              <a:solidFill>
                <a:srgbClr val="002060"/>
              </a:solidFill>
              <a:latin typeface="Times New Roman" panose="02020603050405020304" pitchFamily="18" charset="0"/>
              <a:cs typeface="Times New Roman" panose="02020603050405020304" pitchFamily="18" charset="0"/>
            </a:endParaRPr>
          </a:p>
          <a:p>
            <a:pPr algn="ctr"/>
            <a:r>
              <a:rPr lang="en-US" sz="1600" b="1">
                <a:solidFill>
                  <a:srgbClr val="002060"/>
                </a:solidFill>
                <a:latin typeface="Arial Unicode MS"/>
              </a:rPr>
              <a:t>GVCC.TS. </a:t>
            </a:r>
            <a:r>
              <a:rPr lang="vi-VN" sz="1600" b="1">
                <a:solidFill>
                  <a:srgbClr val="002060"/>
                </a:solidFill>
                <a:latin typeface="Arial Unicode MS"/>
              </a:rPr>
              <a:t>Lâm hồng thạch</a:t>
            </a:r>
            <a:endParaRPr lang="en-US" sz="1600" b="1">
              <a:solidFill>
                <a:srgbClr val="002060"/>
              </a:solidFill>
              <a:latin typeface="Arial Unicode MS"/>
            </a:endParaRPr>
          </a:p>
          <a:p>
            <a:pPr algn="ctr"/>
            <a:endParaRPr lang="en-US" b="1">
              <a:latin typeface="+mn-lt"/>
            </a:endParaRPr>
          </a:p>
        </p:txBody>
      </p:sp>
      <p:pic>
        <p:nvPicPr>
          <p:cNvPr id="6" name="Picture 5"/>
          <p:cNvPicPr>
            <a:picLocks noChangeAspect="1"/>
          </p:cNvPicPr>
          <p:nvPr/>
        </p:nvPicPr>
        <p:blipFill>
          <a:blip r:embed="rId3"/>
          <a:stretch>
            <a:fillRect/>
          </a:stretch>
        </p:blipFill>
        <p:spPr>
          <a:xfrm>
            <a:off x="138981" y="132706"/>
            <a:ext cx="845757" cy="1268636"/>
          </a:xfrm>
          <a:prstGeom prst="rect">
            <a:avLst/>
          </a:prstGeom>
        </p:spPr>
      </p:pic>
      <p:sp>
        <p:nvSpPr>
          <p:cNvPr id="7" name="TextBox 6"/>
          <p:cNvSpPr txBox="1"/>
          <p:nvPr/>
        </p:nvSpPr>
        <p:spPr>
          <a:xfrm>
            <a:off x="1116801" y="508790"/>
            <a:ext cx="7669727" cy="892552"/>
          </a:xfrm>
          <a:prstGeom prst="rect">
            <a:avLst/>
          </a:prstGeom>
          <a:noFill/>
        </p:spPr>
        <p:txBody>
          <a:bodyPr wrap="square" rtlCol="0">
            <a:spAutoFit/>
          </a:bodyPr>
          <a:lstStyle/>
          <a:p>
            <a:pPr>
              <a:spcBef>
                <a:spcPts val="600"/>
              </a:spcBef>
              <a:spcAft>
                <a:spcPts val="600"/>
              </a:spcAft>
            </a:pPr>
            <a:r>
              <a:rPr lang="en-US" b="1"/>
              <a:t>VIỆN </a:t>
            </a:r>
            <a:r>
              <a:rPr lang="vi-VN" b="1"/>
              <a:t>ĐIỆN TỬ VIỄN THÔNG</a:t>
            </a:r>
            <a:endParaRPr lang="en-US" b="1"/>
          </a:p>
          <a:p>
            <a:pPr>
              <a:spcBef>
                <a:spcPts val="600"/>
              </a:spcBef>
              <a:spcAft>
                <a:spcPts val="600"/>
              </a:spcAft>
            </a:pPr>
            <a:r>
              <a:rPr lang="en-US" sz="2400" b="1"/>
              <a:t>TR</a:t>
            </a:r>
            <a:r>
              <a:rPr lang="vi-VN" sz="2400" b="1"/>
              <a:t>Ư</a:t>
            </a:r>
            <a:r>
              <a:rPr lang="en-US" sz="2400" b="1"/>
              <a:t>ỜNG ĐẠI HỌC BÁCH KHOA HÀ NỘI</a:t>
            </a:r>
          </a:p>
        </p:txBody>
      </p:sp>
      <p:pic>
        <p:nvPicPr>
          <p:cNvPr id="2" name="Picture 1"/>
          <p:cNvPicPr>
            <a:picLocks noChangeAspect="1"/>
          </p:cNvPicPr>
          <p:nvPr/>
        </p:nvPicPr>
        <p:blipFill>
          <a:blip r:embed="rId4"/>
          <a:stretch>
            <a:fillRect/>
          </a:stretch>
        </p:blipFill>
        <p:spPr>
          <a:xfrm>
            <a:off x="1661532" y="1401342"/>
            <a:ext cx="5985376" cy="3946879"/>
          </a:xfrm>
          <a:prstGeom prst="rect">
            <a:avLst/>
          </a:prstGeom>
        </p:spPr>
      </p:pic>
    </p:spTree>
    <p:extLst>
      <p:ext uri="{BB962C8B-B14F-4D97-AF65-F5344CB8AC3E}">
        <p14:creationId xmlns:p14="http://schemas.microsoft.com/office/powerpoint/2010/main" val="3838769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0CA2A-6486-41DE-8E78-FC5A56BF5E37}"/>
              </a:ext>
            </a:extLst>
          </p:cNvPr>
          <p:cNvSpPr>
            <a:spLocks noGrp="1"/>
          </p:cNvSpPr>
          <p:nvPr>
            <p:ph idx="1"/>
          </p:nvPr>
        </p:nvSpPr>
        <p:spPr>
          <a:xfrm>
            <a:off x="741569" y="1431973"/>
            <a:ext cx="6530768" cy="5426027"/>
          </a:xfrm>
        </p:spPr>
        <p:txBody>
          <a:bodyPr>
            <a:noAutofit/>
          </a:bodyPr>
          <a:lstStyle/>
          <a:p>
            <a:pPr>
              <a:lnSpc>
                <a:spcPct val="170000"/>
              </a:lnSpc>
            </a:pPr>
            <a:r>
              <a:rPr lang="vi-VN"/>
              <a:t>Giới thiệu </a:t>
            </a:r>
            <a:r>
              <a:rPr lang="en-US"/>
              <a:t>chung</a:t>
            </a:r>
          </a:p>
          <a:p>
            <a:pPr>
              <a:lnSpc>
                <a:spcPct val="170000"/>
              </a:lnSpc>
            </a:pPr>
            <a:r>
              <a:rPr lang="en-US"/>
              <a:t>Đường truyền thông tin vệ tinh</a:t>
            </a:r>
          </a:p>
          <a:p>
            <a:pPr marL="0" indent="0">
              <a:buNone/>
            </a:pPr>
            <a:r>
              <a:rPr lang="en-US"/>
              <a:t>2.1. Anten - Cấu tạo và thông số cơ bản </a:t>
            </a:r>
          </a:p>
          <a:p>
            <a:pPr marL="0" indent="0">
              <a:buNone/>
            </a:pPr>
            <a:r>
              <a:rPr lang="en-US"/>
              <a:t>2.2. EIRP</a:t>
            </a:r>
          </a:p>
          <a:p>
            <a:pPr marL="0" indent="0">
              <a:buNone/>
            </a:pPr>
            <a:r>
              <a:rPr lang="en-US"/>
              <a:t>2.3. Tính toán trường tại điểm thu	 </a:t>
            </a:r>
          </a:p>
          <a:p>
            <a:pPr>
              <a:lnSpc>
                <a:spcPct val="170000"/>
              </a:lnSpc>
              <a:buAutoNum type="arabicPeriod" startAt="3"/>
            </a:pPr>
            <a:r>
              <a:rPr lang="en-US"/>
              <a:t>Truyền sóng trong thông tin vệ tinh</a:t>
            </a:r>
          </a:p>
          <a:p>
            <a:pPr marL="0" indent="0">
              <a:buNone/>
            </a:pPr>
            <a:r>
              <a:rPr lang="en-US"/>
              <a:t>3.1. Đặc điểm </a:t>
            </a:r>
          </a:p>
          <a:p>
            <a:pPr marL="0" indent="0">
              <a:buNone/>
            </a:pPr>
            <a:r>
              <a:rPr lang="en-US"/>
              <a:t>3.2. Ảnh hưởng của khí quyển trái đất</a:t>
            </a:r>
          </a:p>
          <a:p>
            <a:pPr marL="0" indent="0">
              <a:buNone/>
            </a:pPr>
            <a:r>
              <a:rPr lang="en-US"/>
              <a:t>4.     Bài toán thiết kế tuyến thông tin vệ tinh</a:t>
            </a:r>
          </a:p>
          <a:p>
            <a:pPr marL="0" indent="0">
              <a:buNone/>
            </a:pPr>
            <a:r>
              <a:rPr lang="en-US"/>
              <a:t>5.     Câu hỏi và bài tập</a:t>
            </a:r>
          </a:p>
          <a:p>
            <a:pPr marL="0" indent="0">
              <a:buNone/>
            </a:pPr>
            <a:endParaRPr lang="en-US" sz="1800">
              <a:latin typeface="Times New Roman" panose="02020603050405020304" pitchFamily="18" charset="0"/>
              <a:ea typeface="Arial Unicode MS" panose="020B0604020202020204"/>
              <a:cs typeface="Times New Roman" panose="02020603050405020304" pitchFamily="18" charset="0"/>
            </a:endParaRPr>
          </a:p>
          <a:p>
            <a:pPr marL="0" indent="0">
              <a:buNone/>
            </a:pPr>
            <a:endParaRPr lang="en-US" sz="1800">
              <a:latin typeface="Times New Roman" panose="02020603050405020304" pitchFamily="18" charset="0"/>
              <a:ea typeface="Arial Unicode MS" panose="020B0604020202020204"/>
              <a:cs typeface="Times New Roman" panose="02020603050405020304" pitchFamily="18" charset="0"/>
            </a:endParaRPr>
          </a:p>
        </p:txBody>
      </p:sp>
      <p:sp>
        <p:nvSpPr>
          <p:cNvPr id="6" name="TextBox 5"/>
          <p:cNvSpPr txBox="1"/>
          <p:nvPr/>
        </p:nvSpPr>
        <p:spPr>
          <a:xfrm>
            <a:off x="896815" y="315911"/>
            <a:ext cx="8102219"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
        <p:nvSpPr>
          <p:cNvPr id="7" name="TextBox 6">
            <a:extLst>
              <a:ext uri="{FF2B5EF4-FFF2-40B4-BE49-F238E27FC236}">
                <a16:creationId xmlns:a16="http://schemas.microsoft.com/office/drawing/2014/main" id="{738B3BB4-44E9-4D0B-BAAC-F2F1A6736917}"/>
              </a:ext>
            </a:extLst>
          </p:cNvPr>
          <p:cNvSpPr txBox="1"/>
          <p:nvPr/>
        </p:nvSpPr>
        <p:spPr>
          <a:xfrm>
            <a:off x="741569" y="970308"/>
            <a:ext cx="2090841" cy="46166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NỘI DUNG</a:t>
            </a:r>
          </a:p>
        </p:txBody>
      </p:sp>
      <p:sp>
        <p:nvSpPr>
          <p:cNvPr id="10" name="Slide Number Placeholder 9">
            <a:extLst>
              <a:ext uri="{FF2B5EF4-FFF2-40B4-BE49-F238E27FC236}">
                <a16:creationId xmlns:a16="http://schemas.microsoft.com/office/drawing/2014/main" id="{9002C802-B54D-7044-839F-5378EC5EF7F4}"/>
              </a:ext>
            </a:extLst>
          </p:cNvPr>
          <p:cNvSpPr>
            <a:spLocks noGrp="1"/>
          </p:cNvSpPr>
          <p:nvPr>
            <p:ph type="sldNum" sz="quarter" idx="12"/>
          </p:nvPr>
        </p:nvSpPr>
        <p:spPr/>
        <p:txBody>
          <a:bodyPr/>
          <a:lstStyle/>
          <a:p>
            <a:fld id="{F38DF745-7D3F-47F4-83A3-874385CFAA69}" type="slidenum">
              <a:rPr lang="en-US" smtClean="0"/>
              <a:pPr/>
              <a:t>1</a:t>
            </a:fld>
            <a:endParaRPr lang="en-US"/>
          </a:p>
        </p:txBody>
      </p:sp>
    </p:spTree>
    <p:extLst>
      <p:ext uri="{BB962C8B-B14F-4D97-AF65-F5344CB8AC3E}">
        <p14:creationId xmlns:p14="http://schemas.microsoft.com/office/powerpoint/2010/main" val="3982064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5387787-2132-4507-9799-14A17A5E20EA}"/>
              </a:ext>
            </a:extLst>
          </p:cNvPr>
          <p:cNvSpPr txBox="1">
            <a:spLocks/>
          </p:cNvSpPr>
          <p:nvPr/>
        </p:nvSpPr>
        <p:spPr>
          <a:xfrm>
            <a:off x="471697" y="1331912"/>
            <a:ext cx="8158163" cy="458788"/>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0" i="0" u="none" kern="1200" cap="all" spc="-60" baseline="0">
                <a:solidFill>
                  <a:schemeClr val="tx2"/>
                </a:solidFill>
                <a:latin typeface="+mj-lt"/>
                <a:ea typeface="+mj-ea"/>
                <a:cs typeface="+mj-cs"/>
              </a:defRPr>
            </a:lvl1pPr>
          </a:lstStyle>
          <a:p>
            <a:pPr>
              <a:defRPr/>
            </a:pPr>
            <a:r>
              <a:rPr lang="en-US" sz="2000" b="1">
                <a:solidFill>
                  <a:srgbClr val="002060"/>
                </a:solidFill>
                <a:latin typeface="Times New Roman" panose="02020603050405020304" pitchFamily="18" charset="0"/>
                <a:cs typeface="Times New Roman" panose="02020603050405020304" pitchFamily="18" charset="0"/>
              </a:rPr>
              <a:t>1. GIỚI THIỆU CHUNG</a:t>
            </a:r>
          </a:p>
        </p:txBody>
      </p:sp>
      <p:sp>
        <p:nvSpPr>
          <p:cNvPr id="11" name="Text Box 4">
            <a:extLst>
              <a:ext uri="{FF2B5EF4-FFF2-40B4-BE49-F238E27FC236}">
                <a16:creationId xmlns:a16="http://schemas.microsoft.com/office/drawing/2014/main" id="{9771BB98-C263-4172-945E-590AED9EC6F3}"/>
              </a:ext>
            </a:extLst>
          </p:cNvPr>
          <p:cNvSpPr txBox="1">
            <a:spLocks noChangeArrowheads="1"/>
          </p:cNvSpPr>
          <p:nvPr/>
        </p:nvSpPr>
        <p:spPr bwMode="auto">
          <a:xfrm>
            <a:off x="468312" y="1861040"/>
            <a:ext cx="8675687"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맑은 고딕" panose="020B0503020000020004" pitchFamily="34" charset="-127"/>
                <a:ea typeface="굴림" panose="020B0600000101010101" pitchFamily="34" charset="-127"/>
              </a:defRPr>
            </a:lvl1pPr>
            <a:lvl2pPr marL="742950" indent="-285750">
              <a:defRPr kumimoji="1" sz="2400">
                <a:solidFill>
                  <a:schemeClr val="tx1"/>
                </a:solidFill>
                <a:latin typeface="맑은 고딕" panose="020B0503020000020004" pitchFamily="34" charset="-127"/>
                <a:ea typeface="굴림" panose="020B0600000101010101" pitchFamily="34" charset="-127"/>
              </a:defRPr>
            </a:lvl2pPr>
            <a:lvl3pPr marL="1143000" indent="-228600">
              <a:defRPr kumimoji="1" sz="2400">
                <a:solidFill>
                  <a:schemeClr val="tx1"/>
                </a:solidFill>
                <a:latin typeface="맑은 고딕" panose="020B0503020000020004" pitchFamily="34" charset="-127"/>
                <a:ea typeface="굴림" panose="020B0600000101010101" pitchFamily="34" charset="-127"/>
              </a:defRPr>
            </a:lvl3pPr>
            <a:lvl4pPr marL="1600200" indent="-228600">
              <a:defRPr kumimoji="1" sz="2400">
                <a:solidFill>
                  <a:schemeClr val="tx1"/>
                </a:solidFill>
                <a:latin typeface="맑은 고딕" panose="020B0503020000020004" pitchFamily="34" charset="-127"/>
                <a:ea typeface="굴림" panose="020B0600000101010101" pitchFamily="34" charset="-127"/>
              </a:defRPr>
            </a:lvl4pPr>
            <a:lvl5pPr marL="2057400" indent="-228600">
              <a:defRPr kumimoji="1" sz="2400">
                <a:solidFill>
                  <a:schemeClr val="tx1"/>
                </a:solidFill>
                <a:latin typeface="맑은 고딕" panose="020B0503020000020004" pitchFamily="34" charset="-127"/>
                <a:ea typeface="굴림" panose="020B0600000101010101" pitchFamily="34" charset="-127"/>
              </a:defRPr>
            </a:lvl5pPr>
            <a:lvl6pPr marL="2514600" indent="-228600" eaLnBrk="0" fontAlgn="base" hangingPunct="0">
              <a:spcBef>
                <a:spcPct val="0"/>
              </a:spcBef>
              <a:spcAft>
                <a:spcPct val="0"/>
              </a:spcAft>
              <a:defRPr kumimoji="1" sz="2400">
                <a:solidFill>
                  <a:schemeClr val="tx1"/>
                </a:solidFill>
                <a:latin typeface="맑은 고딕" panose="020B0503020000020004" pitchFamily="34" charset="-127"/>
                <a:ea typeface="굴림" panose="020B0600000101010101" pitchFamily="34" charset="-127"/>
              </a:defRPr>
            </a:lvl6pPr>
            <a:lvl7pPr marL="2971800" indent="-228600" eaLnBrk="0" fontAlgn="base" hangingPunct="0">
              <a:spcBef>
                <a:spcPct val="0"/>
              </a:spcBef>
              <a:spcAft>
                <a:spcPct val="0"/>
              </a:spcAft>
              <a:defRPr kumimoji="1" sz="2400">
                <a:solidFill>
                  <a:schemeClr val="tx1"/>
                </a:solidFill>
                <a:latin typeface="맑은 고딕" panose="020B0503020000020004" pitchFamily="34" charset="-127"/>
                <a:ea typeface="굴림" panose="020B0600000101010101" pitchFamily="34" charset="-127"/>
              </a:defRPr>
            </a:lvl7pPr>
            <a:lvl8pPr marL="3429000" indent="-228600" eaLnBrk="0" fontAlgn="base" hangingPunct="0">
              <a:spcBef>
                <a:spcPct val="0"/>
              </a:spcBef>
              <a:spcAft>
                <a:spcPct val="0"/>
              </a:spcAft>
              <a:defRPr kumimoji="1" sz="2400">
                <a:solidFill>
                  <a:schemeClr val="tx1"/>
                </a:solidFill>
                <a:latin typeface="맑은 고딕" panose="020B0503020000020004" pitchFamily="34" charset="-127"/>
                <a:ea typeface="굴림" panose="020B0600000101010101" pitchFamily="34" charset="-127"/>
              </a:defRPr>
            </a:lvl8pPr>
            <a:lvl9pPr marL="3886200" indent="-228600" eaLnBrk="0" fontAlgn="base" hangingPunct="0">
              <a:spcBef>
                <a:spcPct val="0"/>
              </a:spcBef>
              <a:spcAft>
                <a:spcPct val="0"/>
              </a:spcAft>
              <a:defRPr kumimoji="1" sz="2400">
                <a:solidFill>
                  <a:schemeClr val="tx1"/>
                </a:solidFill>
                <a:latin typeface="맑은 고딕" panose="020B0503020000020004" pitchFamily="34" charset="-127"/>
                <a:ea typeface="굴림" panose="020B0600000101010101" pitchFamily="34" charset="-127"/>
              </a:defRPr>
            </a:lvl9pPr>
          </a:lstStyle>
          <a:p>
            <a:pPr algn="just" eaLnBrk="1" latinLnBrk="1" hangingPunct="1">
              <a:lnSpc>
                <a:spcPct val="150000"/>
              </a:lnSpc>
            </a:pPr>
            <a:endParaRPr lang="en-US" altLang="en-US" sz="2000" b="1">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9EA6040-F20F-B24B-B2F3-4DBA56689347}"/>
              </a:ext>
            </a:extLst>
          </p:cNvPr>
          <p:cNvSpPr>
            <a:spLocks noGrp="1"/>
          </p:cNvSpPr>
          <p:nvPr>
            <p:ph type="sldNum" sz="quarter" idx="12"/>
          </p:nvPr>
        </p:nvSpPr>
        <p:spPr/>
        <p:txBody>
          <a:bodyPr/>
          <a:lstStyle/>
          <a:p>
            <a:fld id="{F38DF745-7D3F-47F4-83A3-874385CFAA69}" type="slidenum">
              <a:rPr lang="en-US" smtClean="0"/>
              <a:pPr/>
              <a:t>2</a:t>
            </a:fld>
            <a:endParaRPr lang="en-US"/>
          </a:p>
        </p:txBody>
      </p:sp>
      <p:sp>
        <p:nvSpPr>
          <p:cNvPr id="9" name="TextBox 8">
            <a:extLst>
              <a:ext uri="{FF2B5EF4-FFF2-40B4-BE49-F238E27FC236}">
                <a16:creationId xmlns:a16="http://schemas.microsoft.com/office/drawing/2014/main" id="{D601AE6E-6CAC-4411-8993-A481D3759C73}"/>
              </a:ext>
            </a:extLst>
          </p:cNvPr>
          <p:cNvSpPr txBox="1"/>
          <p:nvPr/>
        </p:nvSpPr>
        <p:spPr>
          <a:xfrm>
            <a:off x="1019907" y="315911"/>
            <a:ext cx="8180029"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pic>
        <p:nvPicPr>
          <p:cNvPr id="2" name="Picture 1"/>
          <p:cNvPicPr>
            <a:picLocks noChangeAspect="1"/>
          </p:cNvPicPr>
          <p:nvPr/>
        </p:nvPicPr>
        <p:blipFill>
          <a:blip r:embed="rId2"/>
          <a:stretch>
            <a:fillRect/>
          </a:stretch>
        </p:blipFill>
        <p:spPr>
          <a:xfrm>
            <a:off x="633300" y="1789084"/>
            <a:ext cx="7395639" cy="4977972"/>
          </a:xfrm>
          <a:prstGeom prst="rect">
            <a:avLst/>
          </a:prstGeom>
        </p:spPr>
      </p:pic>
    </p:spTree>
    <p:extLst>
      <p:ext uri="{BB962C8B-B14F-4D97-AF65-F5344CB8AC3E}">
        <p14:creationId xmlns:p14="http://schemas.microsoft.com/office/powerpoint/2010/main" val="235537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5387787-2132-4507-9799-14A17A5E20EA}"/>
              </a:ext>
            </a:extLst>
          </p:cNvPr>
          <p:cNvSpPr txBox="1">
            <a:spLocks/>
          </p:cNvSpPr>
          <p:nvPr/>
        </p:nvSpPr>
        <p:spPr>
          <a:xfrm>
            <a:off x="468313" y="1126273"/>
            <a:ext cx="8158163" cy="474856"/>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0" i="0" u="none" kern="1200" cap="all" spc="-60" baseline="0">
                <a:solidFill>
                  <a:schemeClr val="tx2"/>
                </a:solidFill>
                <a:latin typeface="+mj-lt"/>
                <a:ea typeface="+mj-ea"/>
                <a:cs typeface="+mj-cs"/>
              </a:defRPr>
            </a:lvl1pPr>
          </a:lstStyle>
          <a:p>
            <a:pPr>
              <a:defRPr/>
            </a:pPr>
            <a:r>
              <a:rPr lang="en-US" sz="2000" b="1">
                <a:solidFill>
                  <a:srgbClr val="002060"/>
                </a:solidFill>
                <a:latin typeface="Times New Roman" panose="02020603050405020304" pitchFamily="18" charset="0"/>
                <a:cs typeface="Times New Roman" panose="02020603050405020304" pitchFamily="18" charset="0"/>
              </a:rPr>
              <a:t>CÁC THAM SỐ TUYẾN </a:t>
            </a:r>
          </a:p>
        </p:txBody>
      </p:sp>
      <p:sp>
        <p:nvSpPr>
          <p:cNvPr id="7" name="Slide Number Placeholder 6">
            <a:extLst>
              <a:ext uri="{FF2B5EF4-FFF2-40B4-BE49-F238E27FC236}">
                <a16:creationId xmlns:a16="http://schemas.microsoft.com/office/drawing/2014/main" id="{2725AAAC-4721-3945-AA11-591B72532561}"/>
              </a:ext>
            </a:extLst>
          </p:cNvPr>
          <p:cNvSpPr>
            <a:spLocks noGrp="1"/>
          </p:cNvSpPr>
          <p:nvPr>
            <p:ph type="sldNum" sz="quarter" idx="12"/>
          </p:nvPr>
        </p:nvSpPr>
        <p:spPr/>
        <p:txBody>
          <a:bodyPr/>
          <a:lstStyle/>
          <a:p>
            <a:fld id="{F38DF745-7D3F-47F4-83A3-874385CFAA69}" type="slidenum">
              <a:rPr lang="en-US" smtClean="0"/>
              <a:pPr/>
              <a:t>3</a:t>
            </a:fld>
            <a:endParaRPr lang="en-US"/>
          </a:p>
        </p:txBody>
      </p:sp>
      <p:sp>
        <p:nvSpPr>
          <p:cNvPr id="13" name="TextBox 12">
            <a:extLst>
              <a:ext uri="{FF2B5EF4-FFF2-40B4-BE49-F238E27FC236}">
                <a16:creationId xmlns:a16="http://schemas.microsoft.com/office/drawing/2014/main" id="{92D3615B-251A-43F2-901E-95B93E2FE1C7}"/>
              </a:ext>
            </a:extLst>
          </p:cNvPr>
          <p:cNvSpPr txBox="1"/>
          <p:nvPr/>
        </p:nvSpPr>
        <p:spPr>
          <a:xfrm>
            <a:off x="949569" y="315911"/>
            <a:ext cx="7403123"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graphicFrame>
        <p:nvGraphicFramePr>
          <p:cNvPr id="35" name="Object 34"/>
          <p:cNvGraphicFramePr>
            <a:graphicFrameLocks noChangeAspect="1"/>
          </p:cNvGraphicFramePr>
          <p:nvPr/>
        </p:nvGraphicFramePr>
        <p:xfrm>
          <a:off x="0" y="1752600"/>
          <a:ext cx="114300" cy="219075"/>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ectangle 2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1" u="none" strike="noStrike" cap="none" normalizeH="0" baseline="0">
                <a:ln>
                  <a:noFill/>
                </a:ln>
                <a:solidFill>
                  <a:schemeClr val="tx1"/>
                </a:solidFill>
                <a:effectLst/>
                <a:latin typeface="Arial" panose="020B0604020202020204" pitchFamily="34" charset="0"/>
                <a:ea typeface="Times New Roman" panose="02020603050405020304" pitchFamily="18" charset="0"/>
              </a:rPr>
              <a:t>rot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30"/>
          <p:cNvSpPr>
            <a:spLocks noChangeArrowheads="1"/>
          </p:cNvSpPr>
          <p:nvPr/>
        </p:nvSpPr>
        <p:spPr bwMode="auto">
          <a:xfrm>
            <a:off x="0" y="1752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71">
            <a:extLst>
              <a:ext uri="{FF2B5EF4-FFF2-40B4-BE49-F238E27FC236}">
                <a16:creationId xmlns:a16="http://schemas.microsoft.com/office/drawing/2014/main" id="{52FFCD5D-BB0D-4D06-9C8B-B0DB6F8DAE6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p:nvPr/>
        </p:nvSpPr>
        <p:spPr>
          <a:xfrm>
            <a:off x="602227" y="1746214"/>
            <a:ext cx="7426712" cy="5023939"/>
          </a:xfrm>
          <a:prstGeom prst="rect">
            <a:avLst/>
          </a:prstGeom>
        </p:spPr>
        <p:txBody>
          <a:bodyPr wrap="square">
            <a:spAutoFit/>
          </a:bodyPr>
          <a:lstStyle/>
          <a:p>
            <a:pPr>
              <a:lnSpc>
                <a:spcPct val="125000"/>
              </a:lnSpc>
              <a:spcAft>
                <a:spcPts val="800"/>
              </a:spcAft>
            </a:pPr>
            <a:r>
              <a:rPr lang="en-US" sz="2800">
                <a:latin typeface="Times New Roman" panose="02020603050405020304" pitchFamily="18" charset="0"/>
                <a:ea typeface="Calibri" panose="020F0502020204030204" pitchFamily="34" charset="0"/>
                <a:cs typeface="Times New Roman" panose="02020603050405020304" pitchFamily="18" charset="0"/>
              </a:rPr>
              <a:t>1. Công suất trạm phát</a:t>
            </a:r>
          </a:p>
          <a:p>
            <a:pPr>
              <a:lnSpc>
                <a:spcPct val="125000"/>
              </a:lnSpc>
              <a:spcAft>
                <a:spcPts val="800"/>
              </a:spcAft>
            </a:pPr>
            <a:r>
              <a:rPr lang="en-US" sz="2800">
                <a:latin typeface="Times New Roman" panose="02020603050405020304" pitchFamily="18" charset="0"/>
                <a:ea typeface="Calibri" panose="020F0502020204030204" pitchFamily="34" charset="0"/>
                <a:cs typeface="Times New Roman" panose="02020603050405020304" pitchFamily="18" charset="0"/>
              </a:rPr>
              <a:t>2. Anten – Hệ số tăng ích</a:t>
            </a:r>
          </a:p>
          <a:p>
            <a:pPr>
              <a:lnSpc>
                <a:spcPct val="125000"/>
              </a:lnSpc>
              <a:spcAft>
                <a:spcPts val="800"/>
              </a:spcAft>
            </a:pPr>
            <a:r>
              <a:rPr lang="en-US" sz="2800">
                <a:latin typeface="Times New Roman" panose="02020603050405020304" pitchFamily="18" charset="0"/>
                <a:ea typeface="Calibri" panose="020F0502020204030204" pitchFamily="34" charset="0"/>
                <a:cs typeface="Times New Roman" panose="02020603050405020304" pitchFamily="18" charset="0"/>
              </a:rPr>
              <a:t>3. EIRP – Tính công suất thu</a:t>
            </a:r>
          </a:p>
          <a:p>
            <a:pPr>
              <a:lnSpc>
                <a:spcPct val="125000"/>
              </a:lnSpc>
              <a:spcAft>
                <a:spcPts val="800"/>
              </a:spcAft>
            </a:pPr>
            <a:r>
              <a:rPr lang="en-US" sz="2800">
                <a:latin typeface="Times New Roman" panose="02020603050405020304" pitchFamily="18" charset="0"/>
                <a:ea typeface="Calibri" panose="020F0502020204030204" pitchFamily="34" charset="0"/>
                <a:cs typeface="Times New Roman" panose="02020603050405020304" pitchFamily="18" charset="0"/>
              </a:rPr>
              <a:t>4. Đặc tính sóng truyền</a:t>
            </a:r>
          </a:p>
          <a:p>
            <a:pPr>
              <a:lnSpc>
                <a:spcPct val="115000"/>
              </a:lnSpc>
              <a:spcAft>
                <a:spcPts val="1000"/>
              </a:spcAft>
            </a:pPr>
            <a:r>
              <a:rPr lang="en-US" sz="2800">
                <a:latin typeface="Times New Roman" panose="02020603050405020304" pitchFamily="18" charset="0"/>
                <a:ea typeface="Calibri" panose="020F0502020204030204" pitchFamily="34" charset="0"/>
                <a:cs typeface="Times New Roman" panose="02020603050405020304" pitchFamily="18" charset="0"/>
              </a:rPr>
              <a:t>5. Ảnh hưởng của khí quyển trái đất</a:t>
            </a:r>
          </a:p>
          <a:p>
            <a:pPr>
              <a:lnSpc>
                <a:spcPct val="115000"/>
              </a:lnSpc>
              <a:spcAft>
                <a:spcPts val="1000"/>
              </a:spcAft>
            </a:pPr>
            <a:r>
              <a:rPr lang="en-US" sz="2800">
                <a:latin typeface="Times New Roman" panose="02020603050405020304" pitchFamily="18" charset="0"/>
                <a:ea typeface="Calibri" panose="020F0502020204030204" pitchFamily="34" charset="0"/>
                <a:cs typeface="Times New Roman" panose="02020603050405020304" pitchFamily="18" charset="0"/>
              </a:rPr>
              <a:t>6. Khoảng cách truyền – Suy hao </a:t>
            </a:r>
          </a:p>
          <a:p>
            <a:pPr>
              <a:lnSpc>
                <a:spcPct val="115000"/>
              </a:lnSpc>
              <a:spcAft>
                <a:spcPts val="1000"/>
              </a:spcAft>
            </a:pPr>
            <a:r>
              <a:rPr lang="en-US" sz="2800">
                <a:latin typeface="Times New Roman" panose="02020603050405020304" pitchFamily="18" charset="0"/>
                <a:ea typeface="Calibri" panose="020F0502020204030204" pitchFamily="34" charset="0"/>
                <a:cs typeface="Times New Roman" panose="02020603050405020304" pitchFamily="18" charset="0"/>
              </a:rPr>
              <a:t>7. Nhiễu đường truyền – Tạp âm</a:t>
            </a:r>
          </a:p>
          <a:p>
            <a:pPr>
              <a:lnSpc>
                <a:spcPct val="115000"/>
              </a:lnSpc>
              <a:spcAft>
                <a:spcPts val="1000"/>
              </a:spcAft>
            </a:pPr>
            <a:r>
              <a:rPr lang="en-US" sz="2800">
                <a:latin typeface="Times New Roman" panose="02020603050405020304" pitchFamily="18" charset="0"/>
                <a:ea typeface="Calibri" panose="020F0502020204030204" pitchFamily="34" charset="0"/>
                <a:cs typeface="Times New Roman" panose="02020603050405020304" pitchFamily="18" charset="0"/>
              </a:rPr>
              <a:t>8. Thiết kế tuyến</a:t>
            </a:r>
          </a:p>
        </p:txBody>
      </p:sp>
    </p:spTree>
    <p:extLst>
      <p:ext uri="{BB962C8B-B14F-4D97-AF65-F5344CB8AC3E}">
        <p14:creationId xmlns:p14="http://schemas.microsoft.com/office/powerpoint/2010/main" val="2314770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5611966-A17F-4DC9-A210-45A444BEB3D1}"/>
              </a:ext>
            </a:extLst>
          </p:cNvPr>
          <p:cNvSpPr txBox="1"/>
          <p:nvPr/>
        </p:nvSpPr>
        <p:spPr>
          <a:xfrm>
            <a:off x="949569" y="315911"/>
            <a:ext cx="7563360"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
        <p:nvSpPr>
          <p:cNvPr id="3" name="Rectangle 2"/>
          <p:cNvSpPr/>
          <p:nvPr/>
        </p:nvSpPr>
        <p:spPr>
          <a:xfrm>
            <a:off x="869799" y="1875552"/>
            <a:ext cx="3015934" cy="400110"/>
          </a:xfrm>
          <a:prstGeom prst="rect">
            <a:avLst/>
          </a:prstGeom>
        </p:spPr>
        <p:txBody>
          <a:bodyPr wrap="square">
            <a:spAutoFit/>
          </a:bodyPr>
          <a:lstStyle/>
          <a:p>
            <a:r>
              <a:rPr lang="en-US" sz="2000" b="1">
                <a:solidFill>
                  <a:srgbClr val="002060"/>
                </a:solidFill>
                <a:latin typeface="Times New Roman" panose="02020603050405020304" pitchFamily="18" charset="0"/>
                <a:cs typeface="Times New Roman" panose="02020603050405020304" pitchFamily="18" charset="0"/>
              </a:rPr>
              <a:t>2.1. CẤU TẠO ANTEN</a:t>
            </a:r>
            <a:endParaRPr lang="vi-VN" sz="2000">
              <a:latin typeface="Times New Roman" panose="02020603050405020304" pitchFamily="18" charset="0"/>
              <a:cs typeface="Times New Roman" panose="02020603050405020304" pitchFamily="18" charset="0"/>
            </a:endParaRPr>
          </a:p>
        </p:txBody>
      </p:sp>
      <p:sp>
        <p:nvSpPr>
          <p:cNvPr id="2" name="Rectangle 1"/>
          <p:cNvSpPr/>
          <p:nvPr/>
        </p:nvSpPr>
        <p:spPr>
          <a:xfrm>
            <a:off x="830979" y="1136757"/>
            <a:ext cx="6227346" cy="461665"/>
          </a:xfrm>
          <a:prstGeom prst="rect">
            <a:avLst/>
          </a:prstGeom>
        </p:spPr>
        <p:txBody>
          <a:bodyPr wrap="none">
            <a:spAutoFit/>
          </a:bodyPr>
          <a:lstStyle/>
          <a:p>
            <a:pPr>
              <a:defRPr/>
            </a:pPr>
            <a:r>
              <a:rPr lang="en-US" altLang="ko-KR" sz="2400" b="1">
                <a:solidFill>
                  <a:srgbClr val="002060"/>
                </a:solidFill>
                <a:latin typeface="Times New Roman" panose="02020603050405020304" pitchFamily="18" charset="0"/>
                <a:ea typeface="Arial Unicode MS" panose="020B0604020202020204" pitchFamily="50" charset="-127"/>
                <a:cs typeface="Times New Roman" panose="02020603050405020304" pitchFamily="18" charset="0"/>
              </a:rPr>
              <a:t>2. ĐƯỜNG TRUYỀN</a:t>
            </a:r>
            <a:r>
              <a:rPr lang="en-US" sz="2400" b="1">
                <a:solidFill>
                  <a:srgbClr val="002060"/>
                </a:solidFill>
                <a:latin typeface="Times New Roman" panose="02020603050405020304" pitchFamily="18" charset="0"/>
                <a:cs typeface="Times New Roman" panose="02020603050405020304" pitchFamily="18" charset="0"/>
              </a:rPr>
              <a:t> THÔNG TIN VỆ TINH</a:t>
            </a:r>
            <a:endParaRPr lang="en-US" sz="240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217965" y="2295524"/>
            <a:ext cx="6792435" cy="3703832"/>
          </a:xfrm>
          <a:prstGeom prst="rect">
            <a:avLst/>
          </a:prstGeom>
        </p:spPr>
      </p:pic>
      <p:pic>
        <p:nvPicPr>
          <p:cNvPr id="8" name="Picture 7"/>
          <p:cNvPicPr>
            <a:picLocks noChangeAspect="1"/>
          </p:cNvPicPr>
          <p:nvPr/>
        </p:nvPicPr>
        <p:blipFill>
          <a:blip r:embed="rId3"/>
          <a:stretch>
            <a:fillRect/>
          </a:stretch>
        </p:blipFill>
        <p:spPr>
          <a:xfrm>
            <a:off x="3885733" y="1895243"/>
            <a:ext cx="4762500" cy="4762500"/>
          </a:xfrm>
          <a:prstGeom prst="rect">
            <a:avLst/>
          </a:prstGeom>
        </p:spPr>
      </p:pic>
      <p:sp>
        <p:nvSpPr>
          <p:cNvPr id="9" name="Rectangle 8"/>
          <p:cNvSpPr/>
          <p:nvPr/>
        </p:nvSpPr>
        <p:spPr>
          <a:xfrm>
            <a:off x="4454850" y="6244010"/>
            <a:ext cx="3406757" cy="369332"/>
          </a:xfrm>
          <a:prstGeom prst="rect">
            <a:avLst/>
          </a:prstGeom>
        </p:spPr>
        <p:txBody>
          <a:bodyPr wrap="square">
            <a:spAutoFit/>
          </a:bodyPr>
          <a:lstStyle/>
          <a:p>
            <a:r>
              <a:rPr lang="en-US" b="1">
                <a:solidFill>
                  <a:srgbClr val="002060"/>
                </a:solidFill>
                <a:latin typeface="Times New Roman" panose="02020603050405020304" pitchFamily="18" charset="0"/>
                <a:cs typeface="Times New Roman" panose="02020603050405020304" pitchFamily="18" charset="0"/>
              </a:rPr>
              <a:t>ANTEN GƯƠNG  PARABOL</a:t>
            </a:r>
            <a:endParaRPr lang="en-US"/>
          </a:p>
        </p:txBody>
      </p:sp>
    </p:spTree>
    <p:extLst>
      <p:ext uri="{BB962C8B-B14F-4D97-AF65-F5344CB8AC3E}">
        <p14:creationId xmlns:p14="http://schemas.microsoft.com/office/powerpoint/2010/main" val="2192520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5387787-2132-4507-9799-14A17A5E20EA}"/>
              </a:ext>
            </a:extLst>
          </p:cNvPr>
          <p:cNvSpPr txBox="1">
            <a:spLocks/>
          </p:cNvSpPr>
          <p:nvPr/>
        </p:nvSpPr>
        <p:spPr>
          <a:xfrm>
            <a:off x="257452" y="1242704"/>
            <a:ext cx="7771487" cy="458788"/>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0" i="0" u="none" kern="1200" cap="all" spc="-60" baseline="0">
                <a:solidFill>
                  <a:schemeClr val="tx2"/>
                </a:solidFill>
                <a:latin typeface="+mj-lt"/>
                <a:ea typeface="+mj-ea"/>
                <a:cs typeface="+mj-cs"/>
              </a:defRPr>
            </a:lvl1pPr>
          </a:lstStyle>
          <a:p>
            <a:pPr>
              <a:defRPr/>
            </a:pPr>
            <a:r>
              <a:rPr lang="en-US" sz="2000" b="1">
                <a:solidFill>
                  <a:srgbClr val="002060"/>
                </a:solidFill>
                <a:latin typeface="Times New Roman" panose="02020603050405020304" pitchFamily="18" charset="0"/>
                <a:cs typeface="Times New Roman" panose="02020603050405020304" pitchFamily="18" charset="0"/>
              </a:rPr>
              <a:t> THÔNG SỐ CƠ BẢN CỦA ANTEN</a:t>
            </a:r>
          </a:p>
        </p:txBody>
      </p:sp>
      <p:sp>
        <p:nvSpPr>
          <p:cNvPr id="7" name="Slide Number Placeholder 6">
            <a:extLst>
              <a:ext uri="{FF2B5EF4-FFF2-40B4-BE49-F238E27FC236}">
                <a16:creationId xmlns:a16="http://schemas.microsoft.com/office/drawing/2014/main" id="{EC0850B5-ED44-7D4D-90E9-1A7CBF667503}"/>
              </a:ext>
            </a:extLst>
          </p:cNvPr>
          <p:cNvSpPr>
            <a:spLocks noGrp="1"/>
          </p:cNvSpPr>
          <p:nvPr>
            <p:ph type="sldNum" sz="quarter" idx="12"/>
          </p:nvPr>
        </p:nvSpPr>
        <p:spPr/>
        <p:txBody>
          <a:bodyPr/>
          <a:lstStyle/>
          <a:p>
            <a:fld id="{F38DF745-7D3F-47F4-83A3-874385CFAA69}" type="slidenum">
              <a:rPr lang="en-US" smtClean="0"/>
              <a:pPr/>
              <a:t>5</a:t>
            </a:fld>
            <a:endParaRPr lang="en-US"/>
          </a:p>
        </p:txBody>
      </p:sp>
      <p:sp>
        <p:nvSpPr>
          <p:cNvPr id="13" name="TextBox 12">
            <a:extLst>
              <a:ext uri="{FF2B5EF4-FFF2-40B4-BE49-F238E27FC236}">
                <a16:creationId xmlns:a16="http://schemas.microsoft.com/office/drawing/2014/main" id="{F1AC1BE9-4373-4010-9445-A7EEEC50DF14}"/>
              </a:ext>
            </a:extLst>
          </p:cNvPr>
          <p:cNvSpPr txBox="1"/>
          <p:nvPr/>
        </p:nvSpPr>
        <p:spPr>
          <a:xfrm>
            <a:off x="949569" y="315911"/>
            <a:ext cx="6260123"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
        <p:nvSpPr>
          <p:cNvPr id="18" name="Rectangle 14"/>
          <p:cNvSpPr>
            <a:spLocks noChangeArrowheads="1"/>
          </p:cNvSpPr>
          <p:nvPr/>
        </p:nvSpPr>
        <p:spPr bwMode="auto">
          <a:xfrm>
            <a:off x="0" y="14946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129867" y="1923522"/>
            <a:ext cx="7899072" cy="4939152"/>
          </a:xfrm>
          <a:prstGeom prst="rect">
            <a:avLst/>
          </a:prstGeom>
        </p:spPr>
      </p:pic>
    </p:spTree>
    <p:extLst>
      <p:ext uri="{BB962C8B-B14F-4D97-AF65-F5344CB8AC3E}">
        <p14:creationId xmlns:p14="http://schemas.microsoft.com/office/powerpoint/2010/main" val="309605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8AC22F-C255-4EE2-8FD7-0A485FE39187}"/>
              </a:ext>
            </a:extLst>
          </p:cNvPr>
          <p:cNvSpPr>
            <a:spLocks noGrp="1"/>
          </p:cNvSpPr>
          <p:nvPr>
            <p:ph type="sldNum" sz="quarter" idx="12"/>
          </p:nvPr>
        </p:nvSpPr>
        <p:spPr/>
        <p:txBody>
          <a:bodyPr/>
          <a:lstStyle/>
          <a:p>
            <a:fld id="{F38DF745-7D3F-47F4-83A3-874385CFAA69}" type="slidenum">
              <a:rPr lang="en-US" smtClean="0"/>
              <a:pPr/>
              <a:t>6</a:t>
            </a:fld>
            <a:endParaRPr lang="en-US"/>
          </a:p>
        </p:txBody>
      </p:sp>
      <p:sp>
        <p:nvSpPr>
          <p:cNvPr id="5" name="TextBox 4">
            <a:extLst>
              <a:ext uri="{FF2B5EF4-FFF2-40B4-BE49-F238E27FC236}">
                <a16:creationId xmlns:a16="http://schemas.microsoft.com/office/drawing/2014/main" id="{7551F16A-39C7-4506-AA97-4DEA78CC8B5B}"/>
              </a:ext>
            </a:extLst>
          </p:cNvPr>
          <p:cNvSpPr txBox="1"/>
          <p:nvPr/>
        </p:nvSpPr>
        <p:spPr>
          <a:xfrm>
            <a:off x="914399" y="315911"/>
            <a:ext cx="6629401"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
        <p:nvSpPr>
          <p:cNvPr id="6" name="Rectangle 5">
            <a:extLst>
              <a:ext uri="{FF2B5EF4-FFF2-40B4-BE49-F238E27FC236}">
                <a16:creationId xmlns:a16="http://schemas.microsoft.com/office/drawing/2014/main" id="{E419AADC-401A-4787-8195-64CA69D31D31}"/>
              </a:ext>
            </a:extLst>
          </p:cNvPr>
          <p:cNvSpPr/>
          <p:nvPr/>
        </p:nvSpPr>
        <p:spPr>
          <a:xfrm>
            <a:off x="120152" y="1008408"/>
            <a:ext cx="9023847" cy="400110"/>
          </a:xfrm>
          <a:prstGeom prst="rect">
            <a:avLst/>
          </a:prstGeom>
        </p:spPr>
        <p:txBody>
          <a:bodyPr wrap="square">
            <a:spAutoFit/>
          </a:bodyPr>
          <a:lstStyle/>
          <a:p>
            <a:pPr>
              <a:defRPr/>
            </a:pPr>
            <a:r>
              <a:rPr lang="en-US" sz="2000" b="1">
                <a:solidFill>
                  <a:srgbClr val="002060"/>
                </a:solidFill>
                <a:latin typeface="Times New Roman" panose="02020603050405020304" pitchFamily="18" charset="0"/>
                <a:cs typeface="Times New Roman" panose="02020603050405020304" pitchFamily="18" charset="0"/>
              </a:rPr>
              <a:t>THÔNG SỐ CƠ BẢN CỦA ANTEN</a:t>
            </a:r>
            <a:endParaRPr lang="en-US" sz="2000">
              <a:solidFill>
                <a:srgbClr val="002060"/>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12426BA-BBC6-4E00-A871-A6A4E4DB411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p:cNvPicPr>
            <a:picLocks noChangeAspect="1"/>
          </p:cNvPicPr>
          <p:nvPr/>
        </p:nvPicPr>
        <p:blipFill>
          <a:blip r:embed="rId2"/>
          <a:stretch>
            <a:fillRect/>
          </a:stretch>
        </p:blipFill>
        <p:spPr>
          <a:xfrm>
            <a:off x="369818" y="1700905"/>
            <a:ext cx="7525289" cy="4361473"/>
          </a:xfrm>
          <a:prstGeom prst="rect">
            <a:avLst/>
          </a:prstGeom>
        </p:spPr>
      </p:pic>
    </p:spTree>
    <p:extLst>
      <p:ext uri="{BB962C8B-B14F-4D97-AF65-F5344CB8AC3E}">
        <p14:creationId xmlns:p14="http://schemas.microsoft.com/office/powerpoint/2010/main" val="1350714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C7B3E9-69F9-4CC4-980F-1C566A0B4C6C}"/>
              </a:ext>
            </a:extLst>
          </p:cNvPr>
          <p:cNvSpPr>
            <a:spLocks noGrp="1"/>
          </p:cNvSpPr>
          <p:nvPr>
            <p:ph type="sldNum" sz="quarter" idx="12"/>
          </p:nvPr>
        </p:nvSpPr>
        <p:spPr/>
        <p:txBody>
          <a:bodyPr/>
          <a:lstStyle/>
          <a:p>
            <a:fld id="{F38DF745-7D3F-47F4-83A3-874385CFAA69}" type="slidenum">
              <a:rPr lang="en-US" smtClean="0"/>
              <a:pPr/>
              <a:t>7</a:t>
            </a:fld>
            <a:endParaRPr lang="en-US"/>
          </a:p>
        </p:txBody>
      </p:sp>
      <p:sp>
        <p:nvSpPr>
          <p:cNvPr id="36" name="TextBox 35">
            <a:extLst>
              <a:ext uri="{FF2B5EF4-FFF2-40B4-BE49-F238E27FC236}">
                <a16:creationId xmlns:a16="http://schemas.microsoft.com/office/drawing/2014/main" id="{430C3EF6-03E9-4AD1-9FB5-7D08C7D3E1FD}"/>
              </a:ext>
            </a:extLst>
          </p:cNvPr>
          <p:cNvSpPr txBox="1"/>
          <p:nvPr/>
        </p:nvSpPr>
        <p:spPr>
          <a:xfrm>
            <a:off x="949569" y="315911"/>
            <a:ext cx="6893169"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pic>
        <p:nvPicPr>
          <p:cNvPr id="3" name="Picture 2"/>
          <p:cNvPicPr>
            <a:picLocks noChangeAspect="1"/>
          </p:cNvPicPr>
          <p:nvPr/>
        </p:nvPicPr>
        <p:blipFill>
          <a:blip r:embed="rId2"/>
          <a:stretch>
            <a:fillRect/>
          </a:stretch>
        </p:blipFill>
        <p:spPr>
          <a:xfrm>
            <a:off x="189572" y="1062407"/>
            <a:ext cx="7750096" cy="5800450"/>
          </a:xfrm>
          <a:prstGeom prst="rect">
            <a:avLst/>
          </a:prstGeom>
        </p:spPr>
      </p:pic>
    </p:spTree>
    <p:extLst>
      <p:ext uri="{BB962C8B-B14F-4D97-AF65-F5344CB8AC3E}">
        <p14:creationId xmlns:p14="http://schemas.microsoft.com/office/powerpoint/2010/main" val="2727741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E9C74F-27E3-47E4-B98B-355511BA1CDE}"/>
              </a:ext>
            </a:extLst>
          </p:cNvPr>
          <p:cNvSpPr>
            <a:spLocks noGrp="1"/>
          </p:cNvSpPr>
          <p:nvPr>
            <p:ph type="sldNum" sz="quarter" idx="12"/>
          </p:nvPr>
        </p:nvSpPr>
        <p:spPr/>
        <p:txBody>
          <a:bodyPr/>
          <a:lstStyle/>
          <a:p>
            <a:fld id="{F38DF745-7D3F-47F4-83A3-874385CFAA69}" type="slidenum">
              <a:rPr lang="en-US" smtClean="0"/>
              <a:pPr/>
              <a:t>8</a:t>
            </a:fld>
            <a:endParaRPr lang="en-US"/>
          </a:p>
        </p:txBody>
      </p:sp>
      <p:sp>
        <p:nvSpPr>
          <p:cNvPr id="5" name="TextBox 4">
            <a:extLst>
              <a:ext uri="{FF2B5EF4-FFF2-40B4-BE49-F238E27FC236}">
                <a16:creationId xmlns:a16="http://schemas.microsoft.com/office/drawing/2014/main" id="{347B34B3-D6DA-4057-A5D7-C12820C4F26E}"/>
              </a:ext>
            </a:extLst>
          </p:cNvPr>
          <p:cNvSpPr txBox="1"/>
          <p:nvPr/>
        </p:nvSpPr>
        <p:spPr>
          <a:xfrm>
            <a:off x="966732" y="315911"/>
            <a:ext cx="6225376"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
        <p:nvSpPr>
          <p:cNvPr id="6" name="Rectangle 5">
            <a:extLst>
              <a:ext uri="{FF2B5EF4-FFF2-40B4-BE49-F238E27FC236}">
                <a16:creationId xmlns:a16="http://schemas.microsoft.com/office/drawing/2014/main" id="{DE04E235-3259-45E2-835B-E14456E906CB}"/>
              </a:ext>
            </a:extLst>
          </p:cNvPr>
          <p:cNvSpPr/>
          <p:nvPr/>
        </p:nvSpPr>
        <p:spPr>
          <a:xfrm>
            <a:off x="178421" y="1119091"/>
            <a:ext cx="8027145" cy="553998"/>
          </a:xfrm>
          <a:prstGeom prst="rect">
            <a:avLst/>
          </a:prstGeom>
        </p:spPr>
        <p:txBody>
          <a:bodyPr wrap="square">
            <a:spAutoFit/>
          </a:bodyPr>
          <a:lstStyle/>
          <a:p>
            <a:pPr algn="just" latinLnBrk="1">
              <a:lnSpc>
                <a:spcPct val="150000"/>
              </a:lnSpc>
            </a:pPr>
            <a:r>
              <a:rPr lang="en-US" altLang="en-US" sz="2000" b="1">
                <a:latin typeface="Times New Roman" panose="02020603050405020304" pitchFamily="18" charset="0"/>
                <a:cs typeface="Times New Roman" panose="02020603050405020304" pitchFamily="18" charset="0"/>
              </a:rPr>
              <a:t>2.2. CÔNG SUẤT BỨC XẠ ĐẲNG HƯỚNG TƯƠNG ĐƯƠNG - EIRP</a:t>
            </a:r>
          </a:p>
        </p:txBody>
      </p:sp>
      <p:sp>
        <p:nvSpPr>
          <p:cNvPr id="3" name="Rectangle 2"/>
          <p:cNvSpPr/>
          <p:nvPr/>
        </p:nvSpPr>
        <p:spPr>
          <a:xfrm>
            <a:off x="424371" y="1727768"/>
            <a:ext cx="3762568" cy="369332"/>
          </a:xfrm>
          <a:prstGeom prst="rect">
            <a:avLst/>
          </a:prstGeom>
        </p:spPr>
        <p:txBody>
          <a:bodyPr wrap="none">
            <a:spAutoFit/>
          </a:bodyPr>
          <a:lstStyle/>
          <a:p>
            <a:r>
              <a:rPr lang="vi-VN">
                <a:latin typeface="Times New Roman" panose="02020603050405020304" pitchFamily="18" charset="0"/>
                <a:ea typeface="Calibri" panose="020F0502020204030204" pitchFamily="34" charset="0"/>
              </a:rPr>
              <a:t>Equivalent Isotropic Radiated Power</a:t>
            </a:r>
            <a:r>
              <a:rPr lang="en-US">
                <a:latin typeface="Times New Roman" panose="02020603050405020304" pitchFamily="18" charset="0"/>
                <a:ea typeface="Calibri" panose="020F0502020204030204" pitchFamily="34" charset="0"/>
              </a:rPr>
              <a:t>   </a:t>
            </a:r>
            <a:endParaRPr lang="en-US"/>
          </a:p>
        </p:txBody>
      </p:sp>
      <p:pic>
        <p:nvPicPr>
          <p:cNvPr id="9" name="Picture 8"/>
          <p:cNvPicPr>
            <a:picLocks noChangeAspect="1"/>
          </p:cNvPicPr>
          <p:nvPr/>
        </p:nvPicPr>
        <p:blipFill>
          <a:blip r:embed="rId2"/>
          <a:stretch>
            <a:fillRect/>
          </a:stretch>
        </p:blipFill>
        <p:spPr>
          <a:xfrm>
            <a:off x="1453028" y="2308301"/>
            <a:ext cx="1866667" cy="401536"/>
          </a:xfrm>
          <a:prstGeom prst="rect">
            <a:avLst/>
          </a:prstGeom>
        </p:spPr>
      </p:pic>
      <p:pic>
        <p:nvPicPr>
          <p:cNvPr id="10" name="Picture 9"/>
          <p:cNvPicPr>
            <a:picLocks noChangeAspect="1"/>
          </p:cNvPicPr>
          <p:nvPr/>
        </p:nvPicPr>
        <p:blipFill>
          <a:blip r:embed="rId3"/>
          <a:stretch>
            <a:fillRect/>
          </a:stretch>
        </p:blipFill>
        <p:spPr>
          <a:xfrm>
            <a:off x="1492974" y="2847991"/>
            <a:ext cx="2351551" cy="397015"/>
          </a:xfrm>
          <a:prstGeom prst="rect">
            <a:avLst/>
          </a:prstGeom>
        </p:spPr>
      </p:pic>
      <p:sp>
        <p:nvSpPr>
          <p:cNvPr id="11" name="Rectangle 10"/>
          <p:cNvSpPr/>
          <p:nvPr/>
        </p:nvSpPr>
        <p:spPr>
          <a:xfrm>
            <a:off x="457203" y="3344693"/>
            <a:ext cx="3105614" cy="369332"/>
          </a:xfrm>
          <a:prstGeom prst="rect">
            <a:avLst/>
          </a:prstGeom>
        </p:spPr>
        <p:txBody>
          <a:bodyPr wrap="square">
            <a:spAutoFit/>
          </a:bodyPr>
          <a:lstStyle/>
          <a:p>
            <a:r>
              <a:rPr lang="en-US">
                <a:latin typeface="Times New Roman" panose="02020603050405020304" pitchFamily="18" charset="0"/>
                <a:ea typeface="Calibri" panose="020F0502020204030204" pitchFamily="34" charset="0"/>
              </a:rPr>
              <a:t>M</a:t>
            </a:r>
            <a:r>
              <a:rPr lang="vi-VN">
                <a:latin typeface="Times New Roman" panose="02020603050405020304" pitchFamily="18" charset="0"/>
                <a:ea typeface="Calibri" panose="020F0502020204030204" pitchFamily="34" charset="0"/>
              </a:rPr>
              <a:t>ật độ thông lượng công suất </a:t>
            </a:r>
            <a:endParaRPr lang="en-US"/>
          </a:p>
        </p:txBody>
      </p:sp>
      <p:pic>
        <p:nvPicPr>
          <p:cNvPr id="13" name="Picture 12"/>
          <p:cNvPicPr>
            <a:picLocks noChangeAspect="1"/>
          </p:cNvPicPr>
          <p:nvPr/>
        </p:nvPicPr>
        <p:blipFill>
          <a:blip r:embed="rId4"/>
          <a:stretch>
            <a:fillRect/>
          </a:stretch>
        </p:blipFill>
        <p:spPr>
          <a:xfrm>
            <a:off x="1492974" y="3928972"/>
            <a:ext cx="3058781" cy="687633"/>
          </a:xfrm>
          <a:prstGeom prst="rect">
            <a:avLst/>
          </a:prstGeom>
        </p:spPr>
      </p:pic>
      <p:pic>
        <p:nvPicPr>
          <p:cNvPr id="14" name="Picture 13"/>
          <p:cNvPicPr>
            <a:picLocks noChangeAspect="1"/>
          </p:cNvPicPr>
          <p:nvPr/>
        </p:nvPicPr>
        <p:blipFill>
          <a:blip r:embed="rId5"/>
          <a:stretch>
            <a:fillRect/>
          </a:stretch>
        </p:blipFill>
        <p:spPr>
          <a:xfrm>
            <a:off x="194495" y="4831552"/>
            <a:ext cx="8075300" cy="1859180"/>
          </a:xfrm>
          <a:prstGeom prst="rect">
            <a:avLst/>
          </a:prstGeom>
        </p:spPr>
      </p:pic>
    </p:spTree>
    <p:extLst>
      <p:ext uri="{BB962C8B-B14F-4D97-AF65-F5344CB8AC3E}">
        <p14:creationId xmlns:p14="http://schemas.microsoft.com/office/powerpoint/2010/main" val="1639141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2814F3-198A-4F18-BD1D-8F060BE5304A}"/>
              </a:ext>
            </a:extLst>
          </p:cNvPr>
          <p:cNvSpPr>
            <a:spLocks noGrp="1"/>
          </p:cNvSpPr>
          <p:nvPr>
            <p:ph type="sldNum" sz="quarter" idx="12"/>
          </p:nvPr>
        </p:nvSpPr>
        <p:spPr/>
        <p:txBody>
          <a:bodyPr/>
          <a:lstStyle/>
          <a:p>
            <a:fld id="{F38DF745-7D3F-47F4-83A3-874385CFAA69}" type="slidenum">
              <a:rPr lang="en-US" smtClean="0"/>
              <a:pPr/>
              <a:t>9</a:t>
            </a:fld>
            <a:endParaRPr lang="en-US"/>
          </a:p>
        </p:txBody>
      </p:sp>
      <p:sp>
        <p:nvSpPr>
          <p:cNvPr id="5" name="TextBox 4">
            <a:extLst>
              <a:ext uri="{FF2B5EF4-FFF2-40B4-BE49-F238E27FC236}">
                <a16:creationId xmlns:a16="http://schemas.microsoft.com/office/drawing/2014/main" id="{B22CD733-C654-458D-BBB4-CA0DD57522A9}"/>
              </a:ext>
            </a:extLst>
          </p:cNvPr>
          <p:cNvSpPr txBox="1"/>
          <p:nvPr/>
        </p:nvSpPr>
        <p:spPr>
          <a:xfrm>
            <a:off x="954631" y="315911"/>
            <a:ext cx="6589169" cy="461665"/>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p:txBody>
      </p:sp>
      <p:sp>
        <p:nvSpPr>
          <p:cNvPr id="6" name="Rectangle 5">
            <a:extLst>
              <a:ext uri="{FF2B5EF4-FFF2-40B4-BE49-F238E27FC236}">
                <a16:creationId xmlns:a16="http://schemas.microsoft.com/office/drawing/2014/main" id="{3C0CA026-CBD0-4464-8AE8-E2D10B4D0B78}"/>
              </a:ext>
            </a:extLst>
          </p:cNvPr>
          <p:cNvSpPr/>
          <p:nvPr/>
        </p:nvSpPr>
        <p:spPr>
          <a:xfrm>
            <a:off x="559293" y="1119091"/>
            <a:ext cx="8149809" cy="4708981"/>
          </a:xfrm>
          <a:prstGeom prst="rect">
            <a:avLst/>
          </a:prstGeom>
        </p:spPr>
        <p:txBody>
          <a:bodyPr wrap="square">
            <a:spAutoFit/>
          </a:bodyPr>
          <a:lstStyle/>
          <a:p>
            <a:pPr algn="just" latinLnBrk="1">
              <a:lnSpc>
                <a:spcPct val="150000"/>
              </a:lnSpc>
            </a:pPr>
            <a:r>
              <a:rPr lang="en-US" altLang="en-US" sz="2000" b="1">
                <a:latin typeface="Times New Roman" panose="02020603050405020304" pitchFamily="18" charset="0"/>
                <a:cs typeface="Times New Roman" panose="02020603050405020304" pitchFamily="18" charset="0"/>
              </a:rPr>
              <a:t>2.3.. TÍNH TOÁN TRƯỜNG TẠI ĐIỂM THU</a:t>
            </a:r>
          </a:p>
          <a:p>
            <a:pPr algn="just" latinLnBrk="1">
              <a:lnSpc>
                <a:spcPct val="150000"/>
              </a:lnSpc>
            </a:pPr>
            <a:r>
              <a:rPr lang="en-US" altLang="en-US" sz="2000" b="1">
                <a:latin typeface="Times New Roman" panose="02020603050405020304" pitchFamily="18" charset="0"/>
                <a:cs typeface="Times New Roman" panose="02020603050405020304" pitchFamily="18" charset="0"/>
              </a:rPr>
              <a:t>Công suất tín hiệu thu</a:t>
            </a:r>
          </a:p>
          <a:p>
            <a:pPr algn="just" latinLnBrk="1">
              <a:lnSpc>
                <a:spcPct val="150000"/>
              </a:lnSpc>
            </a:pPr>
            <a:endParaRPr lang="en-US" altLang="en-US" sz="2000" b="1">
              <a:latin typeface="Times New Roman" panose="02020603050405020304" pitchFamily="18" charset="0"/>
              <a:cs typeface="Times New Roman" panose="02020603050405020304" pitchFamily="18" charset="0"/>
            </a:endParaRPr>
          </a:p>
          <a:p>
            <a:pPr algn="just" latinLnBrk="1">
              <a:lnSpc>
                <a:spcPct val="150000"/>
              </a:lnSpc>
            </a:pPr>
            <a:endParaRPr lang="en-US" altLang="en-US" sz="2000" b="1">
              <a:latin typeface="Times New Roman" panose="02020603050405020304" pitchFamily="18" charset="0"/>
              <a:cs typeface="Times New Roman" panose="02020603050405020304" pitchFamily="18" charset="0"/>
            </a:endParaRPr>
          </a:p>
          <a:p>
            <a:pPr algn="just" latinLnBrk="1">
              <a:lnSpc>
                <a:spcPct val="150000"/>
              </a:lnSpc>
            </a:pPr>
            <a:r>
              <a:rPr lang="en-US" altLang="en-US" sz="2000" b="1">
                <a:latin typeface="Times New Roman" panose="02020603050405020304" pitchFamily="18" charset="0"/>
                <a:cs typeface="Times New Roman" panose="02020603050405020304" pitchFamily="18" charset="0"/>
              </a:rPr>
              <a:t>Ta có:</a:t>
            </a:r>
          </a:p>
          <a:p>
            <a:pPr algn="just" latinLnBrk="1">
              <a:lnSpc>
                <a:spcPct val="150000"/>
              </a:lnSpc>
            </a:pPr>
            <a:endParaRPr lang="en-US" altLang="en-US" sz="2000" b="1">
              <a:latin typeface="Times New Roman" panose="02020603050405020304" pitchFamily="18" charset="0"/>
              <a:cs typeface="Times New Roman" panose="02020603050405020304" pitchFamily="18" charset="0"/>
            </a:endParaRPr>
          </a:p>
          <a:p>
            <a:pPr algn="just" latinLnBrk="1">
              <a:lnSpc>
                <a:spcPct val="150000"/>
              </a:lnSpc>
            </a:pPr>
            <a:r>
              <a:rPr lang="en-US" altLang="en-US" sz="2000">
                <a:latin typeface="Times New Roman" panose="02020603050405020304" pitchFamily="18" charset="0"/>
                <a:cs typeface="Times New Roman" panose="02020603050405020304" pitchFamily="18" charset="0"/>
              </a:rPr>
              <a:t>Biến đổi</a:t>
            </a:r>
          </a:p>
          <a:p>
            <a:pPr algn="just" latinLnBrk="1">
              <a:lnSpc>
                <a:spcPct val="150000"/>
              </a:lnSpc>
            </a:pPr>
            <a:endParaRPr lang="en-US" altLang="en-US" sz="2000" b="1">
              <a:latin typeface="Times New Roman" panose="02020603050405020304" pitchFamily="18" charset="0"/>
              <a:cs typeface="Times New Roman" panose="02020603050405020304" pitchFamily="18" charset="0"/>
            </a:endParaRPr>
          </a:p>
          <a:p>
            <a:pPr algn="just" latinLnBrk="1">
              <a:lnSpc>
                <a:spcPct val="150000"/>
              </a:lnSpc>
            </a:pPr>
            <a:endParaRPr lang="vi-VN" altLang="en-US" sz="2000" b="1">
              <a:latin typeface="Times New Roman" panose="02020603050405020304" pitchFamily="18" charset="0"/>
              <a:cs typeface="Times New Roman" panose="02020603050405020304" pitchFamily="18" charset="0"/>
            </a:endParaRPr>
          </a:p>
          <a:p>
            <a:pPr algn="just" latinLnBrk="1">
              <a:lnSpc>
                <a:spcPct val="150000"/>
              </a:lnSpc>
            </a:pPr>
            <a:endParaRPr lang="en-US" altLang="en-US" sz="200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804374" y="2095188"/>
            <a:ext cx="3224825" cy="730328"/>
          </a:xfrm>
          <a:prstGeom prst="rect">
            <a:avLst/>
          </a:prstGeom>
        </p:spPr>
      </p:pic>
      <p:pic>
        <p:nvPicPr>
          <p:cNvPr id="8" name="Picture 7"/>
          <p:cNvPicPr>
            <a:picLocks noChangeAspect="1"/>
          </p:cNvPicPr>
          <p:nvPr/>
        </p:nvPicPr>
        <p:blipFill>
          <a:blip r:embed="rId3"/>
          <a:stretch>
            <a:fillRect/>
          </a:stretch>
        </p:blipFill>
        <p:spPr>
          <a:xfrm>
            <a:off x="1803239" y="2918999"/>
            <a:ext cx="1723810" cy="752381"/>
          </a:xfrm>
          <a:prstGeom prst="rect">
            <a:avLst/>
          </a:prstGeom>
        </p:spPr>
      </p:pic>
      <p:pic>
        <p:nvPicPr>
          <p:cNvPr id="9" name="Picture 8"/>
          <p:cNvPicPr>
            <a:picLocks noChangeAspect="1"/>
          </p:cNvPicPr>
          <p:nvPr/>
        </p:nvPicPr>
        <p:blipFill>
          <a:blip r:embed="rId4"/>
          <a:stretch>
            <a:fillRect/>
          </a:stretch>
        </p:blipFill>
        <p:spPr>
          <a:xfrm>
            <a:off x="1828800" y="4047316"/>
            <a:ext cx="2420967" cy="2271807"/>
          </a:xfrm>
          <a:prstGeom prst="rect">
            <a:avLst/>
          </a:prstGeom>
        </p:spPr>
      </p:pic>
      <p:sp>
        <p:nvSpPr>
          <p:cNvPr id="10" name="Rectangle 9"/>
          <p:cNvSpPr/>
          <p:nvPr/>
        </p:nvSpPr>
        <p:spPr>
          <a:xfrm>
            <a:off x="267629" y="6395444"/>
            <a:ext cx="5999356" cy="400110"/>
          </a:xfrm>
          <a:prstGeom prst="rect">
            <a:avLst/>
          </a:prstGeom>
        </p:spPr>
        <p:txBody>
          <a:bodyPr wrap="square">
            <a:spAutoFit/>
          </a:bodyPr>
          <a:lstStyle/>
          <a:p>
            <a:r>
              <a:rPr lang="en-US" sz="2000">
                <a:latin typeface="Times New Roman" panose="02020603050405020304" pitchFamily="18" charset="0"/>
                <a:ea typeface="Calibri" panose="020F0502020204030204" pitchFamily="34" charset="0"/>
              </a:rPr>
              <a:t>L</a:t>
            </a:r>
            <a:r>
              <a:rPr lang="en-US" sz="2000" baseline="-25000">
                <a:latin typeface="Times New Roman" panose="02020603050405020304" pitchFamily="18" charset="0"/>
                <a:ea typeface="Calibri" panose="020F0502020204030204" pitchFamily="34" charset="0"/>
              </a:rPr>
              <a:t>FS</a:t>
            </a:r>
            <a:r>
              <a:rPr lang="en-US" sz="2000">
                <a:latin typeface="Times New Roman" panose="02020603050405020304" pitchFamily="18" charset="0"/>
                <a:ea typeface="Calibri" panose="020F0502020204030204" pitchFamily="34" charset="0"/>
              </a:rPr>
              <a:t>  </a:t>
            </a:r>
            <a:r>
              <a:rPr lang="vi-VN" sz="2000">
                <a:latin typeface="Times New Roman" panose="02020603050405020304" pitchFamily="18" charset="0"/>
                <a:ea typeface="Calibri" panose="020F0502020204030204" pitchFamily="34" charset="0"/>
              </a:rPr>
              <a:t>được gọi là tổn hao truyền sóng không gian tự do </a:t>
            </a:r>
            <a:endParaRPr lang="en-US" sz="2000"/>
          </a:p>
        </p:txBody>
      </p:sp>
    </p:spTree>
    <p:extLst>
      <p:ext uri="{BB962C8B-B14F-4D97-AF65-F5344CB8AC3E}">
        <p14:creationId xmlns:p14="http://schemas.microsoft.com/office/powerpoint/2010/main" val="129184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0483"/>
            <a:ext cx="7984273" cy="4976501"/>
          </a:xfrm>
        </p:spPr>
        <p:txBody>
          <a:bodyPr>
            <a:normAutofit/>
          </a:bodyPr>
          <a:lstStyle/>
          <a:p>
            <a:pPr marL="0" indent="0">
              <a:buNone/>
            </a:pPr>
            <a:r>
              <a:rPr lang="en-US" altLang="en-US">
                <a:latin typeface="Times New Roman" panose="02020603050405020304" pitchFamily="18" charset="0"/>
                <a:cs typeface="Times New Roman" panose="02020603050405020304" pitchFamily="18" charset="0"/>
              </a:rPr>
              <a:t>TÍNH TOÁN TRƯỜNG TẠI ĐIỂM THU</a:t>
            </a:r>
            <a:endParaRPr 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8DF745-7D3F-47F4-83A3-874385CFAA69}" type="slidenum">
              <a:rPr lang="en-US" smtClean="0"/>
              <a:pPr/>
              <a:t>10</a:t>
            </a:fld>
            <a:endParaRPr lang="en-US"/>
          </a:p>
        </p:txBody>
      </p:sp>
      <p:sp>
        <p:nvSpPr>
          <p:cNvPr id="5" name="TextBox 4">
            <a:extLst>
              <a:ext uri="{FF2B5EF4-FFF2-40B4-BE49-F238E27FC236}">
                <a16:creationId xmlns:a16="http://schemas.microsoft.com/office/drawing/2014/main" id="{B22CD733-C654-458D-BBB4-CA0DD57522A9}"/>
              </a:ext>
            </a:extLst>
          </p:cNvPr>
          <p:cNvSpPr txBox="1"/>
          <p:nvPr/>
        </p:nvSpPr>
        <p:spPr>
          <a:xfrm>
            <a:off x="954631" y="315911"/>
            <a:ext cx="6589169" cy="461665"/>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p:txBody>
      </p:sp>
      <p:pic>
        <p:nvPicPr>
          <p:cNvPr id="3" name="Picture 2"/>
          <p:cNvPicPr>
            <a:picLocks noChangeAspect="1"/>
          </p:cNvPicPr>
          <p:nvPr/>
        </p:nvPicPr>
        <p:blipFill>
          <a:blip r:embed="rId2"/>
          <a:stretch>
            <a:fillRect/>
          </a:stretch>
        </p:blipFill>
        <p:spPr>
          <a:xfrm>
            <a:off x="571500" y="1990725"/>
            <a:ext cx="7591425" cy="4327305"/>
          </a:xfrm>
          <a:prstGeom prst="rect">
            <a:avLst/>
          </a:prstGeom>
        </p:spPr>
      </p:pic>
    </p:spTree>
    <p:extLst>
      <p:ext uri="{BB962C8B-B14F-4D97-AF65-F5344CB8AC3E}">
        <p14:creationId xmlns:p14="http://schemas.microsoft.com/office/powerpoint/2010/main" val="1584212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6409" y="1290484"/>
            <a:ext cx="6423102" cy="4835680"/>
          </a:xfrm>
        </p:spPr>
        <p:txBody>
          <a:bodyPr/>
          <a:lstStyle/>
          <a:p>
            <a:pPr marL="0" indent="0">
              <a:buNone/>
            </a:pPr>
            <a:r>
              <a:rPr lang="en-US">
                <a:latin typeface="Times New Roman" panose="02020603050405020304" pitchFamily="18" charset="0"/>
                <a:cs typeface="Times New Roman" panose="02020603050405020304" pitchFamily="18" charset="0"/>
              </a:rPr>
              <a:t>4. TRUYỀN SÓNG TRONG THÔNG TIN VỆ TINH</a:t>
            </a:r>
          </a:p>
          <a:p>
            <a:pPr marL="0" indent="0">
              <a:buNone/>
            </a:pPr>
            <a:r>
              <a:rPr lang="en-US">
                <a:latin typeface="Times New Roman" panose="02020603050405020304" pitchFamily="18" charset="0"/>
                <a:cs typeface="Times New Roman" panose="02020603050405020304" pitchFamily="18" charset="0"/>
              </a:rPr>
              <a:t>4.1. Đặc điểm sóng truyền</a:t>
            </a:r>
            <a:endParaRPr lang="en-US" i="1">
              <a:latin typeface="Times New Roman" panose="02020603050405020304" pitchFamily="18" charset="0"/>
              <a:cs typeface="Times New Roman" panose="02020603050405020304" pitchFamily="18" charset="0"/>
            </a:endParaRPr>
          </a:p>
          <a:p>
            <a:pPr marL="0" indent="0">
              <a:buNone/>
            </a:pPr>
            <a:r>
              <a:rPr lang="en-US" b="0">
                <a:latin typeface="Times New Roman" panose="02020603050405020304" pitchFamily="18" charset="0"/>
                <a:ea typeface="Calibri" panose="020F0502020204030204" pitchFamily="34" charset="0"/>
                <a:cs typeface="Times New Roman" panose="02020603050405020304" pitchFamily="18" charset="0"/>
              </a:rPr>
              <a:t>4.1.1. Hệ phương trình Maxwell Cơ sở bức xạ sóng điện từ </a:t>
            </a:r>
            <a:endParaRPr lang="en-US" sz="1600" b="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8DF745-7D3F-47F4-83A3-874385CFAA69}" type="slidenum">
              <a:rPr lang="en-US" smtClean="0"/>
              <a:pPr/>
              <a:t>11</a:t>
            </a:fld>
            <a:endParaRPr lang="en-US"/>
          </a:p>
        </p:txBody>
      </p:sp>
      <p:sp>
        <p:nvSpPr>
          <p:cNvPr id="5" name="TextBox 4">
            <a:extLst>
              <a:ext uri="{FF2B5EF4-FFF2-40B4-BE49-F238E27FC236}">
                <a16:creationId xmlns:a16="http://schemas.microsoft.com/office/drawing/2014/main" id="{B22CD733-C654-458D-BBB4-CA0DD57522A9}"/>
              </a:ext>
            </a:extLst>
          </p:cNvPr>
          <p:cNvSpPr txBox="1"/>
          <p:nvPr/>
        </p:nvSpPr>
        <p:spPr>
          <a:xfrm>
            <a:off x="954631" y="315911"/>
            <a:ext cx="6589169" cy="461665"/>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p:txBody>
      </p:sp>
      <p:pic>
        <p:nvPicPr>
          <p:cNvPr id="7" name="Picture 6"/>
          <p:cNvPicPr>
            <a:picLocks noChangeAspect="1"/>
          </p:cNvPicPr>
          <p:nvPr/>
        </p:nvPicPr>
        <p:blipFill>
          <a:blip r:embed="rId3"/>
          <a:stretch>
            <a:fillRect/>
          </a:stretch>
        </p:blipFill>
        <p:spPr>
          <a:xfrm>
            <a:off x="1573752" y="2831123"/>
            <a:ext cx="1953355" cy="756138"/>
          </a:xfrm>
          <a:prstGeom prst="rect">
            <a:avLst/>
          </a:prstGeom>
        </p:spPr>
      </p:pic>
      <p:pic>
        <p:nvPicPr>
          <p:cNvPr id="8" name="Picture 7"/>
          <p:cNvPicPr>
            <a:picLocks noChangeAspect="1"/>
          </p:cNvPicPr>
          <p:nvPr/>
        </p:nvPicPr>
        <p:blipFill>
          <a:blip r:embed="rId4"/>
          <a:stretch>
            <a:fillRect/>
          </a:stretch>
        </p:blipFill>
        <p:spPr>
          <a:xfrm>
            <a:off x="1528600" y="3727738"/>
            <a:ext cx="1690850" cy="776877"/>
          </a:xfrm>
          <a:prstGeom prst="rect">
            <a:avLst/>
          </a:prstGeom>
        </p:spPr>
      </p:pic>
      <p:pic>
        <p:nvPicPr>
          <p:cNvPr id="10" name="Picture 9"/>
          <p:cNvPicPr>
            <a:picLocks noChangeAspect="1"/>
          </p:cNvPicPr>
          <p:nvPr/>
        </p:nvPicPr>
        <p:blipFill>
          <a:blip r:embed="rId5"/>
          <a:stretch>
            <a:fillRect/>
          </a:stretch>
        </p:blipFill>
        <p:spPr>
          <a:xfrm>
            <a:off x="657351" y="5127900"/>
            <a:ext cx="6629274" cy="1253849"/>
          </a:xfrm>
          <a:prstGeom prst="rect">
            <a:avLst/>
          </a:prstGeom>
        </p:spPr>
      </p:pic>
    </p:spTree>
    <p:extLst>
      <p:ext uri="{BB962C8B-B14F-4D97-AF65-F5344CB8AC3E}">
        <p14:creationId xmlns:p14="http://schemas.microsoft.com/office/powerpoint/2010/main" val="3249575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38DF745-7D3F-47F4-83A3-874385CFAA69}" type="slidenum">
              <a:rPr lang="en-US" smtClean="0"/>
              <a:pPr/>
              <a:t>12</a:t>
            </a:fld>
            <a:endParaRPr lang="en-US"/>
          </a:p>
        </p:txBody>
      </p:sp>
      <p:pic>
        <p:nvPicPr>
          <p:cNvPr id="5" name="Content Placeholder 4"/>
          <p:cNvPicPr>
            <a:picLocks noGrp="1"/>
          </p:cNvPicPr>
          <p:nvPr>
            <p:ph idx="1"/>
          </p:nvPr>
        </p:nvPicPr>
        <p:blipFill>
          <a:blip r:embed="rId2" cstate="email">
            <a:extLst>
              <a:ext uri="{28A0092B-C50C-407E-A947-70E740481C1C}">
                <a14:useLocalDpi xmlns:a14="http://schemas.microsoft.com/office/drawing/2010/main" val="0"/>
              </a:ext>
            </a:extLst>
          </a:blip>
          <a:srcRect/>
          <a:stretch>
            <a:fillRect/>
          </a:stretch>
        </p:blipFill>
        <p:spPr bwMode="auto">
          <a:xfrm>
            <a:off x="1364675" y="2000250"/>
            <a:ext cx="5169476" cy="3028672"/>
          </a:xfrm>
          <a:prstGeom prst="rect">
            <a:avLst/>
          </a:prstGeom>
          <a:noFill/>
          <a:ln>
            <a:noFill/>
          </a:ln>
        </p:spPr>
      </p:pic>
      <p:pic>
        <p:nvPicPr>
          <p:cNvPr id="6" name="Picture 5"/>
          <p:cNvPicPr>
            <a:picLocks noChangeAspect="1"/>
          </p:cNvPicPr>
          <p:nvPr/>
        </p:nvPicPr>
        <p:blipFill>
          <a:blip r:embed="rId3"/>
          <a:stretch>
            <a:fillRect/>
          </a:stretch>
        </p:blipFill>
        <p:spPr>
          <a:xfrm>
            <a:off x="891473" y="5298282"/>
            <a:ext cx="6052252" cy="616743"/>
          </a:xfrm>
          <a:prstGeom prst="rect">
            <a:avLst/>
          </a:prstGeom>
        </p:spPr>
      </p:pic>
      <p:sp>
        <p:nvSpPr>
          <p:cNvPr id="7" name="Rectangle 6"/>
          <p:cNvSpPr/>
          <p:nvPr/>
        </p:nvSpPr>
        <p:spPr>
          <a:xfrm>
            <a:off x="1266825" y="1228725"/>
            <a:ext cx="5591175" cy="369332"/>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4.1.2. TRUYỀN SÓNG TRONG THÔNG TIN VỆ TINH</a:t>
            </a:r>
          </a:p>
        </p:txBody>
      </p:sp>
      <p:sp>
        <p:nvSpPr>
          <p:cNvPr id="8" name="Rectangle 7"/>
          <p:cNvSpPr/>
          <p:nvPr/>
        </p:nvSpPr>
        <p:spPr>
          <a:xfrm>
            <a:off x="1299539" y="615434"/>
            <a:ext cx="2525371" cy="369332"/>
          </a:xfrm>
          <a:prstGeom prst="rect">
            <a:avLst/>
          </a:prstGeom>
        </p:spPr>
        <p:txBody>
          <a:bodyPr wrap="none">
            <a:spAutoFit/>
          </a:bodyPr>
          <a:lstStyle/>
          <a:p>
            <a:r>
              <a:rPr lang="en-US" b="1">
                <a:solidFill>
                  <a:srgbClr val="002060"/>
                </a:solidFill>
                <a:latin typeface="Times New Roman" panose="02020603050405020304" pitchFamily="18" charset="0"/>
                <a:cs typeface="Times New Roman" panose="02020603050405020304" pitchFamily="18" charset="0"/>
              </a:rPr>
              <a:t>THÔNG TIN VỆ TINH</a:t>
            </a:r>
          </a:p>
        </p:txBody>
      </p:sp>
    </p:spTree>
    <p:extLst>
      <p:ext uri="{BB962C8B-B14F-4D97-AF65-F5344CB8AC3E}">
        <p14:creationId xmlns:p14="http://schemas.microsoft.com/office/powerpoint/2010/main" val="3522407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85851"/>
            <a:ext cx="5442155" cy="401592"/>
          </a:xfrm>
        </p:spPr>
        <p:txBody>
          <a:bodyPr>
            <a:normAutofit/>
          </a:bodyPr>
          <a:lstStyle/>
          <a:p>
            <a:pPr marL="0" indent="0">
              <a:buNone/>
            </a:pPr>
            <a:r>
              <a:rPr lang="en-US" sz="1800">
                <a:latin typeface="Times New Roman" panose="02020603050405020304" pitchFamily="18" charset="0"/>
                <a:ea typeface="Times New Roman" panose="02020603050405020304" pitchFamily="18" charset="0"/>
              </a:rPr>
              <a:t>4.1.3. PHÂN CỰC </a:t>
            </a:r>
            <a:endParaRPr lang="en-US" sz="1800"/>
          </a:p>
        </p:txBody>
      </p:sp>
      <p:sp>
        <p:nvSpPr>
          <p:cNvPr id="4" name="Slide Number Placeholder 3"/>
          <p:cNvSpPr>
            <a:spLocks noGrp="1"/>
          </p:cNvSpPr>
          <p:nvPr>
            <p:ph type="sldNum" sz="quarter" idx="12"/>
          </p:nvPr>
        </p:nvSpPr>
        <p:spPr/>
        <p:txBody>
          <a:bodyPr/>
          <a:lstStyle/>
          <a:p>
            <a:fld id="{F38DF745-7D3F-47F4-83A3-874385CFAA69}" type="slidenum">
              <a:rPr lang="en-US" smtClean="0"/>
              <a:pPr/>
              <a:t>13</a:t>
            </a:fld>
            <a:endParaRPr lang="en-US"/>
          </a:p>
        </p:txBody>
      </p:sp>
      <p:pic>
        <p:nvPicPr>
          <p:cNvPr id="9" name="Picture 8"/>
          <p:cNvPicPr>
            <a:picLocks noChangeAspect="1"/>
          </p:cNvPicPr>
          <p:nvPr/>
        </p:nvPicPr>
        <p:blipFill>
          <a:blip r:embed="rId2"/>
          <a:stretch>
            <a:fillRect/>
          </a:stretch>
        </p:blipFill>
        <p:spPr>
          <a:xfrm>
            <a:off x="628650" y="1611267"/>
            <a:ext cx="6734048" cy="3185467"/>
          </a:xfrm>
          <a:prstGeom prst="rect">
            <a:avLst/>
          </a:prstGeom>
        </p:spPr>
      </p:pic>
      <p:pic>
        <p:nvPicPr>
          <p:cNvPr id="11" name="Picture 10" descr="Sóng điện từ là gì? Những đặc điểm cơ bản của sóng điện từ"/>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52917" y="4857749"/>
            <a:ext cx="3057208" cy="1635125"/>
          </a:xfrm>
          <a:prstGeom prst="rect">
            <a:avLst/>
          </a:prstGeom>
          <a:noFill/>
          <a:ln>
            <a:noFill/>
          </a:ln>
        </p:spPr>
      </p:pic>
    </p:spTree>
    <p:extLst>
      <p:ext uri="{BB962C8B-B14F-4D97-AF65-F5344CB8AC3E}">
        <p14:creationId xmlns:p14="http://schemas.microsoft.com/office/powerpoint/2010/main" val="2403745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497229" y="6492875"/>
            <a:ext cx="646771" cy="365125"/>
          </a:xfrm>
        </p:spPr>
        <p:txBody>
          <a:bodyPr/>
          <a:lstStyle/>
          <a:p>
            <a:fld id="{F38DF745-7D3F-47F4-83A3-874385CFAA69}" type="slidenum">
              <a:rPr lang="en-US" smtClean="0"/>
              <a:pPr/>
              <a:t>14</a:t>
            </a:fld>
            <a:endParaRPr lang="en-US"/>
          </a:p>
        </p:txBody>
      </p:sp>
      <p:sp>
        <p:nvSpPr>
          <p:cNvPr id="6" name="TextBox 5">
            <a:extLst>
              <a:ext uri="{FF2B5EF4-FFF2-40B4-BE49-F238E27FC236}">
                <a16:creationId xmlns:a16="http://schemas.microsoft.com/office/drawing/2014/main" id="{B22CD733-C654-458D-BBB4-CA0DD57522A9}"/>
              </a:ext>
            </a:extLst>
          </p:cNvPr>
          <p:cNvSpPr txBox="1"/>
          <p:nvPr/>
        </p:nvSpPr>
        <p:spPr>
          <a:xfrm>
            <a:off x="954631" y="315911"/>
            <a:ext cx="6589169" cy="1138773"/>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2400" b="1">
              <a:solidFill>
                <a:srgbClr val="002060"/>
              </a:solidFill>
              <a:latin typeface="Times New Roman" panose="02020603050405020304" pitchFamily="18" charset="0"/>
              <a:cs typeface="Times New Roman" panose="02020603050405020304" pitchFamily="18" charset="0"/>
            </a:endParaRPr>
          </a:p>
          <a:p>
            <a:r>
              <a:rPr lang="en-US" b="1">
                <a:solidFill>
                  <a:srgbClr val="002060"/>
                </a:solidFill>
                <a:latin typeface="Times New Roman" panose="02020603050405020304" pitchFamily="18" charset="0"/>
                <a:cs typeface="Times New Roman" panose="02020603050405020304" pitchFamily="18" charset="0"/>
              </a:rPr>
              <a:t>5. ẢNH HƯỞNG CỦA KHÍ QUYỂN ĐẾN TT VỆ TINH</a:t>
            </a:r>
          </a:p>
        </p:txBody>
      </p:sp>
      <p:pic>
        <p:nvPicPr>
          <p:cNvPr id="3" name="Content Placeholder 2"/>
          <p:cNvPicPr>
            <a:picLocks noGrp="1" noChangeAspect="1"/>
          </p:cNvPicPr>
          <p:nvPr>
            <p:ph idx="1"/>
          </p:nvPr>
        </p:nvPicPr>
        <p:blipFill>
          <a:blip r:embed="rId2"/>
          <a:stretch>
            <a:fillRect/>
          </a:stretch>
        </p:blipFill>
        <p:spPr>
          <a:xfrm>
            <a:off x="1222233" y="1797094"/>
            <a:ext cx="3502168" cy="4329069"/>
          </a:xfrm>
          <a:prstGeom prst="rect">
            <a:avLst/>
          </a:prstGeom>
        </p:spPr>
      </p:pic>
    </p:spTree>
    <p:extLst>
      <p:ext uri="{BB962C8B-B14F-4D97-AF65-F5344CB8AC3E}">
        <p14:creationId xmlns:p14="http://schemas.microsoft.com/office/powerpoint/2010/main" val="854017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345688" y="1070517"/>
            <a:ext cx="8051128" cy="4976604"/>
          </a:xfrm>
          <a:prstGeom prst="rect">
            <a:avLst/>
          </a:prstGeom>
        </p:spPr>
      </p:pic>
      <p:sp>
        <p:nvSpPr>
          <p:cNvPr id="4" name="Slide Number Placeholder 3"/>
          <p:cNvSpPr>
            <a:spLocks noGrp="1"/>
          </p:cNvSpPr>
          <p:nvPr>
            <p:ph type="sldNum" sz="quarter" idx="12"/>
          </p:nvPr>
        </p:nvSpPr>
        <p:spPr/>
        <p:txBody>
          <a:bodyPr/>
          <a:lstStyle/>
          <a:p>
            <a:fld id="{F38DF745-7D3F-47F4-83A3-874385CFAA69}"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22CD733-C654-458D-BBB4-CA0DD57522A9}"/>
              </a:ext>
            </a:extLst>
          </p:cNvPr>
          <p:cNvSpPr txBox="1"/>
          <p:nvPr/>
        </p:nvSpPr>
        <p:spPr>
          <a:xfrm>
            <a:off x="954631" y="315911"/>
            <a:ext cx="6589169" cy="461665"/>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p:txBody>
      </p:sp>
    </p:spTree>
    <p:extLst>
      <p:ext uri="{BB962C8B-B14F-4D97-AF65-F5344CB8AC3E}">
        <p14:creationId xmlns:p14="http://schemas.microsoft.com/office/powerpoint/2010/main" val="2112721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0484"/>
            <a:ext cx="5442155" cy="527165"/>
          </a:xfrm>
        </p:spPr>
        <p:txBody>
          <a:bodyPr/>
          <a:lstStyle/>
          <a:p>
            <a:pPr marL="0" indent="0">
              <a:buNone/>
            </a:pPr>
            <a:r>
              <a:rPr lang="en-US">
                <a:latin typeface="Times New Roman" panose="02020603050405020304" pitchFamily="18" charset="0"/>
                <a:cs typeface="Times New Roman" panose="02020603050405020304" pitchFamily="18" charset="0"/>
              </a:rPr>
              <a:t>8. ỨNG DỤNG</a:t>
            </a:r>
          </a:p>
        </p:txBody>
      </p:sp>
      <p:sp>
        <p:nvSpPr>
          <p:cNvPr id="4" name="Slide Number Placeholder 3"/>
          <p:cNvSpPr>
            <a:spLocks noGrp="1"/>
          </p:cNvSpPr>
          <p:nvPr>
            <p:ph type="sldNum" sz="quarter" idx="12"/>
          </p:nvPr>
        </p:nvSpPr>
        <p:spPr/>
        <p:txBody>
          <a:bodyPr/>
          <a:lstStyle/>
          <a:p>
            <a:fld id="{F38DF745-7D3F-47F4-83A3-874385CFAA69}" type="slidenum">
              <a:rPr lang="en-US" smtClean="0"/>
              <a:pPr/>
              <a:t>16</a:t>
            </a:fld>
            <a:endParaRPr lang="en-US"/>
          </a:p>
        </p:txBody>
      </p:sp>
      <p:sp>
        <p:nvSpPr>
          <p:cNvPr id="5" name="TextBox 4">
            <a:extLst>
              <a:ext uri="{FF2B5EF4-FFF2-40B4-BE49-F238E27FC236}">
                <a16:creationId xmlns:a16="http://schemas.microsoft.com/office/drawing/2014/main" id="{B22CD733-C654-458D-BBB4-CA0DD57522A9}"/>
              </a:ext>
            </a:extLst>
          </p:cNvPr>
          <p:cNvSpPr txBox="1"/>
          <p:nvPr/>
        </p:nvSpPr>
        <p:spPr>
          <a:xfrm>
            <a:off x="954631" y="315911"/>
            <a:ext cx="6589169" cy="461665"/>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p:txBody>
      </p:sp>
      <p:sp>
        <p:nvSpPr>
          <p:cNvPr id="6" name="Rectangle 5"/>
          <p:cNvSpPr/>
          <p:nvPr/>
        </p:nvSpPr>
        <p:spPr>
          <a:xfrm>
            <a:off x="646771" y="1997839"/>
            <a:ext cx="7382168" cy="3730317"/>
          </a:xfrm>
          <a:prstGeom prst="rect">
            <a:avLst/>
          </a:prstGeom>
        </p:spPr>
        <p:txBody>
          <a:bodyPr wrap="square">
            <a:spAutoFit/>
          </a:bodyPr>
          <a:lstStyle/>
          <a:p>
            <a:pPr>
              <a:lnSpc>
                <a:spcPct val="150000"/>
              </a:lnSpc>
            </a:pPr>
            <a:r>
              <a:rPr lang="vi-VN" sz="2000">
                <a:latin typeface="+mj-lt"/>
              </a:rPr>
              <a:t>Năm 1957 Liên xô phóng thành công vệ tinh lên quỹ đạo trái đất</a:t>
            </a:r>
          </a:p>
          <a:p>
            <a:pPr>
              <a:lnSpc>
                <a:spcPct val="150000"/>
              </a:lnSpc>
            </a:pPr>
            <a:r>
              <a:rPr lang="vi-VN" sz="2000">
                <a:latin typeface="+mj-lt"/>
              </a:rPr>
              <a:t>Năm 1965, vệ tinh thương mại đầu tiên trong hệ thống INTELSAT-1 được đưa vào quỹ đạo. </a:t>
            </a:r>
          </a:p>
          <a:p>
            <a:pPr>
              <a:lnSpc>
                <a:spcPct val="150000"/>
              </a:lnSpc>
            </a:pPr>
            <a:r>
              <a:rPr lang="vi-VN" sz="2000">
                <a:latin typeface="+mj-lt"/>
              </a:rPr>
              <a:t>Năm 1987 TVSAT- vệ tinh dành cho dịch vụ truyền hình quáng bá đầu tiên được đưa vào vận hành.</a:t>
            </a:r>
          </a:p>
          <a:p>
            <a:pPr>
              <a:lnSpc>
                <a:spcPct val="150000"/>
              </a:lnSpc>
            </a:pPr>
            <a:r>
              <a:rPr lang="vi-VN" sz="2000">
                <a:latin typeface="+mj-lt"/>
              </a:rPr>
              <a:t>Ngày nay gần như tất cả các quốc gia và vùng lãnh thổ trên thế giới đều sử dụng hệ thống thông tin vệ tinh, bao gồm phát thanh truyền hình, thông tin định vị, cứu hộ, thông tin di động vệ tinh</a:t>
            </a:r>
            <a:r>
              <a:rPr lang="vi-VN"/>
              <a:t>.</a:t>
            </a:r>
          </a:p>
        </p:txBody>
      </p:sp>
    </p:spTree>
    <p:extLst>
      <p:ext uri="{BB962C8B-B14F-4D97-AF65-F5344CB8AC3E}">
        <p14:creationId xmlns:p14="http://schemas.microsoft.com/office/powerpoint/2010/main" val="3657140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0484"/>
            <a:ext cx="7917366" cy="4835680"/>
          </a:xfrm>
        </p:spPr>
        <p:txBody>
          <a:bodyPr>
            <a:normAutofit lnSpcReduction="10000"/>
          </a:bodyPr>
          <a:lstStyle/>
          <a:p>
            <a:pPr marL="0" indent="0">
              <a:buNone/>
            </a:pPr>
            <a:r>
              <a:rPr lang="en-US">
                <a:latin typeface="Times New Roman" panose="02020603050405020304" pitchFamily="18" charset="0"/>
                <a:cs typeface="Times New Roman" panose="02020603050405020304" pitchFamily="18" charset="0"/>
              </a:rPr>
              <a:t>8.2. ỨNG DỤNG</a:t>
            </a:r>
          </a:p>
          <a:p>
            <a:pPr marL="0" indent="0">
              <a:lnSpc>
                <a:spcPct val="150000"/>
              </a:lnSpc>
              <a:buNone/>
            </a:pPr>
            <a:r>
              <a:rPr lang="en-US">
                <a:latin typeface="Times New Roman" panose="02020603050405020304" pitchFamily="18" charset="0"/>
                <a:cs typeface="Times New Roman" panose="02020603050405020304" pitchFamily="18" charset="0"/>
              </a:rPr>
              <a:t>Tại Việt Nam, </a:t>
            </a:r>
          </a:p>
          <a:p>
            <a:pPr marL="0" indent="0">
              <a:lnSpc>
                <a:spcPct val="150000"/>
              </a:lnSpc>
              <a:buNone/>
            </a:pPr>
            <a:r>
              <a:rPr lang="en-US">
                <a:latin typeface="Times New Roman" panose="02020603050405020304" pitchFamily="18" charset="0"/>
                <a:cs typeface="Times New Roman" panose="02020603050405020304" pitchFamily="18" charset="0"/>
              </a:rPr>
              <a:t>Năm 2008 VINASAT-1 - vệ tinh viễn thông đầu tiên của Việt Nam được phóng thành công vào quỹ đạo, phủ sóng phát thanh truyền hình và các dịch vụ thông tin khác toàn bộ lãnh thổ. </a:t>
            </a:r>
          </a:p>
          <a:p>
            <a:pPr marL="0" indent="0">
              <a:lnSpc>
                <a:spcPct val="150000"/>
              </a:lnSpc>
              <a:buNone/>
            </a:pPr>
            <a:r>
              <a:rPr lang="en-US">
                <a:latin typeface="Times New Roman" panose="02020603050405020304" pitchFamily="18" charset="0"/>
                <a:cs typeface="Times New Roman" panose="02020603050405020304" pitchFamily="18" charset="0"/>
              </a:rPr>
              <a:t>Năm 2012, VINASAT-2 vệ tinh địa tĩnh thứ hai của Việt Nam được phóng vào quỹ đạo. </a:t>
            </a:r>
          </a:p>
          <a:p>
            <a:pPr marL="0" indent="0">
              <a:lnSpc>
                <a:spcPct val="150000"/>
              </a:lnSpc>
              <a:buNone/>
            </a:pPr>
            <a:r>
              <a:rPr lang="en-US">
                <a:latin typeface="Times New Roman" panose="02020603050405020304" pitchFamily="18" charset="0"/>
                <a:cs typeface="Times New Roman" panose="02020603050405020304" pitchFamily="18" charset="0"/>
              </a:rPr>
              <a:t>Năm 2013, đến lượt VN-RED SAT 1A vệ tinh viễn thám phi địa tĩnh được đưa lên quỹ đạo, chụp ảnh khí tượng, đất đai, góp phần dự báo thời tiết, phục vụ nông nghiệp, an ninh, quốc phòng.</a:t>
            </a:r>
          </a:p>
          <a:p>
            <a:endParaRPr lang="en-US"/>
          </a:p>
        </p:txBody>
      </p:sp>
      <p:sp>
        <p:nvSpPr>
          <p:cNvPr id="4" name="Slide Number Placeholder 3"/>
          <p:cNvSpPr>
            <a:spLocks noGrp="1"/>
          </p:cNvSpPr>
          <p:nvPr>
            <p:ph type="sldNum" sz="quarter" idx="12"/>
          </p:nvPr>
        </p:nvSpPr>
        <p:spPr/>
        <p:txBody>
          <a:bodyPr/>
          <a:lstStyle/>
          <a:p>
            <a:fld id="{F38DF745-7D3F-47F4-83A3-874385CFAA69}" type="slidenum">
              <a:rPr lang="en-US" smtClean="0"/>
              <a:pPr/>
              <a:t>17</a:t>
            </a:fld>
            <a:endParaRPr lang="en-US"/>
          </a:p>
        </p:txBody>
      </p:sp>
      <p:sp>
        <p:nvSpPr>
          <p:cNvPr id="5" name="TextBox 4"/>
          <p:cNvSpPr txBox="1"/>
          <p:nvPr/>
        </p:nvSpPr>
        <p:spPr>
          <a:xfrm>
            <a:off x="896815" y="315911"/>
            <a:ext cx="8102219"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Tree>
    <p:extLst>
      <p:ext uri="{BB962C8B-B14F-4D97-AF65-F5344CB8AC3E}">
        <p14:creationId xmlns:p14="http://schemas.microsoft.com/office/powerpoint/2010/main" val="2000268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0484"/>
            <a:ext cx="8408020" cy="4835680"/>
          </a:xfrm>
        </p:spPr>
        <p:txBody>
          <a:bodyPr>
            <a:normAutofit/>
          </a:bodyPr>
          <a:lstStyle/>
          <a:p>
            <a:pPr marL="0" indent="0">
              <a:lnSpc>
                <a:spcPct val="150000"/>
              </a:lnSpc>
              <a:buNone/>
            </a:pPr>
            <a:r>
              <a:rPr lang="en-US"/>
              <a:t>9. CÂU HỎI VÀ BÀI TẬP</a:t>
            </a:r>
          </a:p>
          <a:p>
            <a:pPr lvl="0">
              <a:lnSpc>
                <a:spcPct val="150000"/>
              </a:lnSpc>
            </a:pPr>
            <a:r>
              <a:rPr lang="en-US" err="1"/>
              <a:t>Tại</a:t>
            </a:r>
            <a:r>
              <a:rPr lang="en-US"/>
              <a:t> </a:t>
            </a:r>
            <a:r>
              <a:rPr lang="en-US" err="1"/>
              <a:t>sao</a:t>
            </a:r>
            <a:r>
              <a:rPr lang="en-US"/>
              <a:t> </a:t>
            </a:r>
            <a:r>
              <a:rPr lang="en-US" err="1"/>
              <a:t>trong</a:t>
            </a:r>
            <a:r>
              <a:rPr lang="en-US"/>
              <a:t> </a:t>
            </a:r>
            <a:r>
              <a:rPr lang="en-US" err="1"/>
              <a:t>thông</a:t>
            </a:r>
            <a:r>
              <a:rPr lang="en-US"/>
              <a:t> tin </a:t>
            </a:r>
            <a:r>
              <a:rPr lang="en-US" err="1"/>
              <a:t>vệ</a:t>
            </a:r>
            <a:r>
              <a:rPr lang="en-US"/>
              <a:t> </a:t>
            </a:r>
            <a:r>
              <a:rPr lang="en-US" err="1"/>
              <a:t>tinh</a:t>
            </a:r>
            <a:r>
              <a:rPr lang="en-US"/>
              <a:t>, </a:t>
            </a:r>
            <a:r>
              <a:rPr lang="en-US" err="1"/>
              <a:t>tần</a:t>
            </a:r>
            <a:r>
              <a:rPr lang="en-US"/>
              <a:t> </a:t>
            </a:r>
            <a:r>
              <a:rPr lang="en-US" err="1"/>
              <a:t>số</a:t>
            </a:r>
            <a:r>
              <a:rPr lang="en-US"/>
              <a:t> </a:t>
            </a:r>
            <a:r>
              <a:rPr lang="en-US" err="1"/>
              <a:t>đường</a:t>
            </a:r>
            <a:r>
              <a:rPr lang="en-US"/>
              <a:t> </a:t>
            </a:r>
            <a:r>
              <a:rPr lang="en-US" err="1"/>
              <a:t>lên</a:t>
            </a:r>
            <a:r>
              <a:rPr lang="en-US"/>
              <a:t> </a:t>
            </a:r>
            <a:r>
              <a:rPr lang="en-US" err="1"/>
              <a:t>lại</a:t>
            </a:r>
            <a:r>
              <a:rPr lang="en-US"/>
              <a:t> </a:t>
            </a:r>
            <a:r>
              <a:rPr lang="en-US" err="1"/>
              <a:t>lớn</a:t>
            </a:r>
            <a:r>
              <a:rPr lang="en-US"/>
              <a:t> </a:t>
            </a:r>
            <a:r>
              <a:rPr lang="en-US" err="1"/>
              <a:t>hơn</a:t>
            </a:r>
            <a:r>
              <a:rPr lang="en-US"/>
              <a:t> </a:t>
            </a:r>
            <a:r>
              <a:rPr lang="en-US" err="1"/>
              <a:t>tần</a:t>
            </a:r>
            <a:r>
              <a:rPr lang="en-US"/>
              <a:t> </a:t>
            </a:r>
            <a:r>
              <a:rPr lang="en-US" err="1"/>
              <a:t>số</a:t>
            </a:r>
            <a:r>
              <a:rPr lang="en-US"/>
              <a:t> </a:t>
            </a:r>
            <a:r>
              <a:rPr lang="en-US" err="1"/>
              <a:t>đường</a:t>
            </a:r>
            <a:r>
              <a:rPr lang="en-US"/>
              <a:t> </a:t>
            </a:r>
            <a:r>
              <a:rPr lang="en-US" err="1"/>
              <a:t>xuống</a:t>
            </a:r>
            <a:r>
              <a:rPr lang="en-US"/>
              <a:t>?</a:t>
            </a:r>
          </a:p>
          <a:p>
            <a:pPr lvl="0">
              <a:lnSpc>
                <a:spcPct val="150000"/>
              </a:lnSpc>
            </a:pPr>
            <a:r>
              <a:rPr lang="en-US"/>
              <a:t>So </a:t>
            </a:r>
            <a:r>
              <a:rPr lang="en-US" err="1"/>
              <a:t>sánh</a:t>
            </a:r>
            <a:r>
              <a:rPr lang="en-US"/>
              <a:t> </a:t>
            </a:r>
            <a:r>
              <a:rPr lang="en-US" err="1"/>
              <a:t>ưu</a:t>
            </a:r>
            <a:r>
              <a:rPr lang="en-US"/>
              <a:t> </a:t>
            </a:r>
            <a:r>
              <a:rPr lang="en-US" err="1"/>
              <a:t>nhược</a:t>
            </a:r>
            <a:r>
              <a:rPr lang="en-US"/>
              <a:t> </a:t>
            </a:r>
            <a:r>
              <a:rPr lang="en-US" err="1"/>
              <a:t>điểm</a:t>
            </a:r>
            <a:r>
              <a:rPr lang="en-US"/>
              <a:t> </a:t>
            </a:r>
            <a:r>
              <a:rPr lang="en-US" err="1"/>
              <a:t>của</a:t>
            </a:r>
            <a:r>
              <a:rPr lang="en-US"/>
              <a:t> </a:t>
            </a:r>
            <a:r>
              <a:rPr lang="en-US" err="1"/>
              <a:t>vệ</a:t>
            </a:r>
            <a:r>
              <a:rPr lang="en-US"/>
              <a:t> </a:t>
            </a:r>
            <a:r>
              <a:rPr lang="en-US" err="1"/>
              <a:t>tinh</a:t>
            </a:r>
            <a:r>
              <a:rPr lang="en-US"/>
              <a:t> </a:t>
            </a:r>
            <a:r>
              <a:rPr lang="en-US" err="1"/>
              <a:t>thông</a:t>
            </a:r>
            <a:r>
              <a:rPr lang="en-US"/>
              <a:t> tin </a:t>
            </a:r>
            <a:r>
              <a:rPr lang="en-US" err="1"/>
              <a:t>sử</a:t>
            </a:r>
            <a:r>
              <a:rPr lang="en-US"/>
              <a:t> </a:t>
            </a:r>
            <a:r>
              <a:rPr lang="en-US" err="1"/>
              <a:t>dụng</a:t>
            </a:r>
            <a:r>
              <a:rPr lang="en-US"/>
              <a:t> </a:t>
            </a:r>
            <a:r>
              <a:rPr lang="en-US" err="1"/>
              <a:t>quỹ</a:t>
            </a:r>
            <a:r>
              <a:rPr lang="en-US"/>
              <a:t> </a:t>
            </a:r>
            <a:r>
              <a:rPr lang="en-US" err="1"/>
              <a:t>đạo</a:t>
            </a:r>
            <a:r>
              <a:rPr lang="en-US"/>
              <a:t> </a:t>
            </a:r>
            <a:r>
              <a:rPr lang="en-US" err="1"/>
              <a:t>địa</a:t>
            </a:r>
            <a:r>
              <a:rPr lang="en-US"/>
              <a:t> </a:t>
            </a:r>
            <a:r>
              <a:rPr lang="en-US" err="1"/>
              <a:t>tĩnh</a:t>
            </a:r>
            <a:r>
              <a:rPr lang="en-US"/>
              <a:t> </a:t>
            </a:r>
            <a:r>
              <a:rPr lang="en-US" err="1"/>
              <a:t>và</a:t>
            </a:r>
            <a:r>
              <a:rPr lang="en-US"/>
              <a:t> </a:t>
            </a:r>
            <a:r>
              <a:rPr lang="en-US" err="1"/>
              <a:t>quỹ</a:t>
            </a:r>
            <a:r>
              <a:rPr lang="en-US"/>
              <a:t> </a:t>
            </a:r>
            <a:r>
              <a:rPr lang="en-US" err="1"/>
              <a:t>đạo</a:t>
            </a:r>
            <a:r>
              <a:rPr lang="en-US"/>
              <a:t> </a:t>
            </a:r>
            <a:r>
              <a:rPr lang="en-US" err="1"/>
              <a:t>elip</a:t>
            </a:r>
            <a:r>
              <a:rPr lang="en-US"/>
              <a:t> </a:t>
            </a:r>
          </a:p>
          <a:p>
            <a:pPr lvl="0">
              <a:lnSpc>
                <a:spcPct val="150000"/>
              </a:lnSpc>
            </a:pPr>
            <a:r>
              <a:rPr lang="vi-VN"/>
              <a:t>Đặt bài toán t</a:t>
            </a:r>
            <a:r>
              <a:rPr lang="en-US" err="1"/>
              <a:t>ính</a:t>
            </a:r>
            <a:r>
              <a:rPr lang="en-US"/>
              <a:t> </a:t>
            </a:r>
            <a:r>
              <a:rPr lang="vi-VN"/>
              <a:t>công suất thu</a:t>
            </a:r>
            <a:r>
              <a:rPr lang="en-US"/>
              <a:t> m</a:t>
            </a:r>
            <a:r>
              <a:rPr lang="vi-VN"/>
              <a:t>à</a:t>
            </a:r>
            <a:r>
              <a:rPr lang="en-US"/>
              <a:t> </a:t>
            </a:r>
            <a:r>
              <a:rPr lang="en-US" err="1"/>
              <a:t>vệ</a:t>
            </a:r>
            <a:r>
              <a:rPr lang="en-US"/>
              <a:t> </a:t>
            </a:r>
            <a:r>
              <a:rPr lang="en-US" err="1"/>
              <a:t>tinh</a:t>
            </a:r>
            <a:r>
              <a:rPr lang="en-US"/>
              <a:t> </a:t>
            </a:r>
            <a:r>
              <a:rPr lang="en-US" err="1"/>
              <a:t>địa</a:t>
            </a:r>
            <a:r>
              <a:rPr lang="en-US"/>
              <a:t> </a:t>
            </a:r>
            <a:r>
              <a:rPr lang="en-US" err="1"/>
              <a:t>tĩnh</a:t>
            </a:r>
            <a:r>
              <a:rPr lang="en-US"/>
              <a:t> </a:t>
            </a:r>
            <a:r>
              <a:rPr lang="en-US" err="1"/>
              <a:t>có</a:t>
            </a:r>
            <a:r>
              <a:rPr lang="en-US"/>
              <a:t> </a:t>
            </a:r>
            <a:r>
              <a:rPr lang="en-US" err="1"/>
              <a:t>thể</a:t>
            </a:r>
            <a:r>
              <a:rPr lang="vi-VN"/>
              <a:t> nhận được từ một trạm</a:t>
            </a:r>
            <a:r>
              <a:rPr lang="en-US"/>
              <a:t> </a:t>
            </a:r>
            <a:r>
              <a:rPr lang="en-US" err="1"/>
              <a:t>mặt</a:t>
            </a:r>
            <a:r>
              <a:rPr lang="en-US"/>
              <a:t> </a:t>
            </a:r>
            <a:r>
              <a:rPr lang="en-US" err="1"/>
              <a:t>đất</a:t>
            </a:r>
            <a:r>
              <a:rPr lang="en-US"/>
              <a:t>.</a:t>
            </a:r>
          </a:p>
          <a:p>
            <a:pPr lvl="0">
              <a:lnSpc>
                <a:spcPct val="150000"/>
              </a:lnSpc>
            </a:pPr>
            <a:r>
              <a:rPr lang="en-US" err="1"/>
              <a:t>Trình</a:t>
            </a:r>
            <a:r>
              <a:rPr lang="en-US"/>
              <a:t> </a:t>
            </a:r>
            <a:r>
              <a:rPr lang="en-US" err="1"/>
              <a:t>bày</a:t>
            </a:r>
            <a:r>
              <a:rPr lang="en-US"/>
              <a:t> </a:t>
            </a:r>
            <a:r>
              <a:rPr lang="en-US" err="1"/>
              <a:t>những</a:t>
            </a:r>
            <a:r>
              <a:rPr lang="en-US"/>
              <a:t> </a:t>
            </a:r>
            <a:r>
              <a:rPr lang="en-US" err="1"/>
              <a:t>hiểu</a:t>
            </a:r>
            <a:r>
              <a:rPr lang="en-US"/>
              <a:t> </a:t>
            </a:r>
            <a:r>
              <a:rPr lang="en-US" err="1"/>
              <a:t>biết</a:t>
            </a:r>
            <a:r>
              <a:rPr lang="en-US"/>
              <a:t> </a:t>
            </a:r>
            <a:r>
              <a:rPr lang="en-US" err="1"/>
              <a:t>của</a:t>
            </a:r>
            <a:r>
              <a:rPr lang="en-US"/>
              <a:t> </a:t>
            </a:r>
            <a:r>
              <a:rPr lang="en-US" err="1"/>
              <a:t>bạn</a:t>
            </a:r>
            <a:r>
              <a:rPr lang="en-US"/>
              <a:t> </a:t>
            </a:r>
            <a:r>
              <a:rPr lang="en-US" err="1"/>
              <a:t>về</a:t>
            </a:r>
            <a:r>
              <a:rPr lang="en-US"/>
              <a:t> Vinasat-1, Vinasat-2</a:t>
            </a:r>
          </a:p>
          <a:p>
            <a:pPr lvl="0">
              <a:lnSpc>
                <a:spcPct val="150000"/>
              </a:lnSpc>
            </a:pPr>
            <a:r>
              <a:rPr lang="en-US" err="1"/>
              <a:t>Tín</a:t>
            </a:r>
            <a:r>
              <a:rPr lang="en-US"/>
              <a:t> </a:t>
            </a:r>
            <a:r>
              <a:rPr lang="en-US" err="1"/>
              <a:t>hiệu</a:t>
            </a:r>
            <a:r>
              <a:rPr lang="en-US"/>
              <a:t> </a:t>
            </a:r>
            <a:r>
              <a:rPr lang="en-US" err="1"/>
              <a:t>băng</a:t>
            </a:r>
            <a:r>
              <a:rPr lang="en-US"/>
              <a:t> </a:t>
            </a:r>
            <a:r>
              <a:rPr lang="en-US" err="1"/>
              <a:t>tần</a:t>
            </a:r>
            <a:r>
              <a:rPr lang="en-US"/>
              <a:t> </a:t>
            </a:r>
            <a:r>
              <a:rPr lang="en-US" err="1"/>
              <a:t>gốc</a:t>
            </a:r>
            <a:r>
              <a:rPr lang="en-US"/>
              <a:t>? Vai </a:t>
            </a:r>
            <a:r>
              <a:rPr lang="en-US" err="1"/>
              <a:t>trò</a:t>
            </a:r>
            <a:r>
              <a:rPr lang="en-US"/>
              <a:t> </a:t>
            </a:r>
            <a:r>
              <a:rPr lang="en-US" err="1"/>
              <a:t>của</a:t>
            </a:r>
            <a:r>
              <a:rPr lang="en-US"/>
              <a:t> </a:t>
            </a:r>
            <a:r>
              <a:rPr lang="en-US" err="1"/>
              <a:t>điều</a:t>
            </a:r>
            <a:r>
              <a:rPr lang="en-US"/>
              <a:t> </a:t>
            </a:r>
            <a:r>
              <a:rPr lang="en-US" err="1"/>
              <a:t>chế</a:t>
            </a:r>
            <a:r>
              <a:rPr lang="en-US"/>
              <a:t> </a:t>
            </a:r>
            <a:r>
              <a:rPr lang="en-US" err="1"/>
              <a:t>tín</a:t>
            </a:r>
            <a:r>
              <a:rPr lang="en-US"/>
              <a:t> </a:t>
            </a:r>
            <a:r>
              <a:rPr lang="en-US" err="1"/>
              <a:t>hiệu</a:t>
            </a:r>
            <a:r>
              <a:rPr lang="en-US"/>
              <a:t>? LNA?</a:t>
            </a:r>
          </a:p>
        </p:txBody>
      </p:sp>
      <p:sp>
        <p:nvSpPr>
          <p:cNvPr id="4" name="Slide Number Placeholder 3"/>
          <p:cNvSpPr>
            <a:spLocks noGrp="1"/>
          </p:cNvSpPr>
          <p:nvPr>
            <p:ph type="sldNum" sz="quarter" idx="12"/>
          </p:nvPr>
        </p:nvSpPr>
        <p:spPr/>
        <p:txBody>
          <a:bodyPr/>
          <a:lstStyle/>
          <a:p>
            <a:fld id="{F38DF745-7D3F-47F4-83A3-874385CFAA69}" type="slidenum">
              <a:rPr lang="en-US" smtClean="0"/>
              <a:pPr/>
              <a:t>18</a:t>
            </a:fld>
            <a:endParaRPr lang="en-US"/>
          </a:p>
        </p:txBody>
      </p:sp>
      <p:sp>
        <p:nvSpPr>
          <p:cNvPr id="5" name="TextBox 4"/>
          <p:cNvSpPr txBox="1"/>
          <p:nvPr/>
        </p:nvSpPr>
        <p:spPr>
          <a:xfrm>
            <a:off x="896815" y="315911"/>
            <a:ext cx="8102219" cy="692497"/>
          </a:xfrm>
          <a:prstGeom prst="rect">
            <a:avLst/>
          </a:prstGeom>
          <a:noFill/>
        </p:spPr>
        <p:txBody>
          <a:bodyPr wrap="square" rtlCol="0">
            <a:spAutoFit/>
          </a:bodyPr>
          <a:lstStyle/>
          <a:p>
            <a:r>
              <a:rPr lang="en-US" sz="2400" b="1">
                <a:solidFill>
                  <a:srgbClr val="002060"/>
                </a:solidFill>
                <a:latin typeface="Times New Roman" panose="02020603050405020304" pitchFamily="18" charset="0"/>
                <a:cs typeface="Times New Roman" panose="02020603050405020304" pitchFamily="18" charset="0"/>
              </a:rPr>
              <a:t>THÔNG TIN VỆ TINH</a:t>
            </a:r>
          </a:p>
          <a:p>
            <a:endParaRPr lang="en-US" sz="1400" b="1" i="1">
              <a:solidFill>
                <a:srgbClr val="002060"/>
              </a:solidFill>
            </a:endParaRPr>
          </a:p>
        </p:txBody>
      </p:sp>
    </p:spTree>
    <p:extLst>
      <p:ext uri="{BB962C8B-B14F-4D97-AF65-F5344CB8AC3E}">
        <p14:creationId xmlns:p14="http://schemas.microsoft.com/office/powerpoint/2010/main" val="2485322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 - &amp;quot;CONTENT&amp;quot;&quot;/&gt;&lt;property id=&quot;20307&quot; value=&quot;258&quot;/&gt;&lt;/object&gt;&lt;object type=&quot;3&quot; unique_id=&quot;10006&quot;&gt;&lt;property id=&quot;20148&quot; value=&quot;5&quot;/&gt;&lt;property id=&quot;20300&quot; value=&quot;Slide 3&quot;/&gt;&lt;property id=&quot;20307&quot; value=&quot;260&quot;/&gt;&lt;/object&gt;&lt;object type=&quot;3&quot; unique_id=&quot;10007&quot;&gt;&lt;property id=&quot;20148&quot; value=&quot;5&quot;/&gt;&lt;property id=&quot;20300&quot; value=&quot;Slide 4&quot;/&gt;&lt;property id=&quot;20307&quot; value=&quot;261&quot;/&gt;&lt;/object&gt;&lt;object type=&quot;3&quot; unique_id=&quot;10008&quot;&gt;&lt;property id=&quot;20148&quot; value=&quot;5&quot;/&gt;&lt;property id=&quot;20300&quot; value=&quot;Slide 5&quot;/&gt;&lt;property id=&quot;20307&quot; value=&quot;262&quot;/&gt;&lt;/object&gt;&lt;object type=&quot;3&quot; unique_id=&quot;10009&quot;&gt;&lt;property id=&quot;20148&quot; value=&quot;5&quot;/&gt;&lt;property id=&quot;20300&quot; value=&quot;Slide 6&quot;/&gt;&lt;property id=&quot;20307&quot; value=&quot;263&quot;/&gt;&lt;/object&gt;&lt;object type=&quot;3&quot; unique_id=&quot;10010&quot;&gt;&lt;property id=&quot;20148&quot; value=&quot;5&quot;/&gt;&lt;property id=&quot;20300&quot; value=&quot;Slide 7&quot;/&gt;&lt;property id=&quot;20307&quot; value=&quot;264&quot;/&gt;&lt;/object&gt;&lt;object type=&quot;3&quot; unique_id=&quot;10014&quot;&gt;&lt;property id=&quot;20148&quot; value=&quot;5&quot;/&gt;&lt;property id=&quot;20300&quot; value=&quot;Slide 8&quot;/&gt;&lt;property id=&quot;20307&quot; value=&quot;267&quot;/&gt;&lt;/object&gt;&lt;object type=&quot;3&quot; unique_id=&quot;10017&quot;&gt;&lt;property id=&quot;20148&quot; value=&quot;5&quot;/&gt;&lt;property id=&quot;20300&quot; value=&quot;Slide 18&quot;/&gt;&lt;property id=&quot;20307&quot; value=&quot;270&quot;/&gt;&lt;/object&gt;&lt;object type=&quot;3&quot; unique_id=&quot;10451&quot;&gt;&lt;property id=&quot;20148&quot; value=&quot;5&quot;/&gt;&lt;property id=&quot;20300&quot; value=&quot;Slide 9&quot;/&gt;&lt;property id=&quot;20307&quot; value=&quot;273&quot;/&gt;&lt;/object&gt;&lt;object type=&quot;3&quot; unique_id=&quot;10903&quot;&gt;&lt;property id=&quot;20148&quot; value=&quot;5&quot;/&gt;&lt;property id=&quot;20300&quot; value=&quot;Slide 11&quot;/&gt;&lt;property id=&quot;20307&quot; value=&quot;276&quot;/&gt;&lt;/object&gt;&lt;object type=&quot;3&quot; unique_id=&quot;1166415&quot;&gt;&lt;property id=&quot;20148&quot; value=&quot;5&quot;/&gt;&lt;property id=&quot;20300&quot; value=&quot;Slide 10&quot;/&gt;&lt;property id=&quot;20307&quot; value=&quot;277&quot;/&gt;&lt;/object&gt;&lt;object type=&quot;3&quot; unique_id=&quot;1166476&quot;&gt;&lt;property id=&quot;20148&quot; value=&quot;5&quot;/&gt;&lt;property id=&quot;20300&quot; value=&quot;Slide 12&quot;/&gt;&lt;property id=&quot;20307&quot; value=&quot;286&quot;/&gt;&lt;/object&gt;&lt;object type=&quot;3&quot; unique_id=&quot;1166642&quot;&gt;&lt;property id=&quot;20148&quot; value=&quot;5&quot;/&gt;&lt;property id=&quot;20300&quot; value=&quot;Slide 13&quot;/&gt;&lt;property id=&quot;20307&quot; value=&quot;281&quot;/&gt;&lt;/object&gt;&lt;object type=&quot;3&quot; unique_id=&quot;1166643&quot;&gt;&lt;property id=&quot;20148&quot; value=&quot;5&quot;/&gt;&lt;property id=&quot;20300&quot; value=&quot;Slide 14&quot;/&gt;&lt;property id=&quot;20307&quot; value=&quot;288&quot;/&gt;&lt;/object&gt;&lt;object type=&quot;3&quot; unique_id=&quot;1166644&quot;&gt;&lt;property id=&quot;20148&quot; value=&quot;5&quot;/&gt;&lt;property id=&quot;20300&quot; value=&quot;Slide 15&quot;/&gt;&lt;property id=&quot;20307&quot; value=&quot;289&quot;/&gt;&lt;/object&gt;&lt;object type=&quot;3&quot; unique_id=&quot;1166645&quot;&gt;&lt;property id=&quot;20148&quot; value=&quot;5&quot;/&gt;&lt;property id=&quot;20300&quot; value=&quot;Slide 16&quot;/&gt;&lt;property id=&quot;20307&quot; value=&quot;285&quot;/&gt;&lt;/object&gt;&lt;object type=&quot;3&quot; unique_id=&quot;1166646&quot;&gt;&lt;property id=&quot;20148&quot; value=&quot;5&quot;/&gt;&lt;property id=&quot;20300&quot; value=&quot;Slide 17&quot;/&gt;&lt;property id=&quot;20307&quot; value=&quot;291&quot;/&gt;&lt;/object&gt;&lt;/object&gt;&lt;object type=&quot;8&quot; unique_id=&quot;10034&quo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0c0e146-7933-430d-95e9-7a57eeef4b51" xsi:nil="true"/>
    <lcf76f155ced4ddcb4097134ff3c332f xmlns="76c39492-0838-4393-a9cb-f762ec56069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4071AB2BE2774A9C6F5D2B7BD14EDC" ma:contentTypeVersion="12" ma:contentTypeDescription="Create a new document." ma:contentTypeScope="" ma:versionID="a5f0e81f927b551c3c32385215b4a772">
  <xsd:schema xmlns:xsd="http://www.w3.org/2001/XMLSchema" xmlns:xs="http://www.w3.org/2001/XMLSchema" xmlns:p="http://schemas.microsoft.com/office/2006/metadata/properties" xmlns:ns2="76c39492-0838-4393-a9cb-f762ec560696" xmlns:ns3="10c0e146-7933-430d-95e9-7a57eeef4b51" targetNamespace="http://schemas.microsoft.com/office/2006/metadata/properties" ma:root="true" ma:fieldsID="eef2dfc9304f027e92937f3f644ead54" ns2:_="" ns3:_="">
    <xsd:import namespace="76c39492-0838-4393-a9cb-f762ec560696"/>
    <xsd:import namespace="10c0e146-7933-430d-95e9-7a57eeef4b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c39492-0838-4393-a9cb-f762ec5606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c0e146-7933-430d-95e9-7a57eeef4b5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9fe5d71-36d0-44db-8c49-8726554bd002}" ma:internalName="TaxCatchAll" ma:showField="CatchAllData" ma:web="10c0e146-7933-430d-95e9-7a57eeef4b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EF8AF4-6609-4BFA-9A28-F714DC635480}">
  <ds:schemaRefs>
    <ds:schemaRef ds:uri="10c0e146-7933-430d-95e9-7a57eeef4b51"/>
    <ds:schemaRef ds:uri="76c39492-0838-4393-a9cb-f762ec560696"/>
    <ds:schemaRef ds:uri="91781773-cf10-4f2f-83f1-f92ceadca312"/>
    <ds:schemaRef ds:uri="caa1b16a-a8f8-4463-89e0-0b22ac18206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692BE80-23B9-4453-8C10-F819C082DBBE}">
  <ds:schemaRefs>
    <ds:schemaRef ds:uri="10c0e146-7933-430d-95e9-7a57eeef4b51"/>
    <ds:schemaRef ds:uri="76c39492-0838-4393-a9cb-f762ec5606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C0CF725-28D1-47B1-8519-A1906D5590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Essential.thmx</Template>
  <Application>Microsoft Office PowerPoint</Application>
  <PresentationFormat>On-screen Show (4:3)</PresentationFormat>
  <Slides>19</Slides>
  <Notes>2</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Essential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Hoang-hai Tran</dc:creator>
  <cp:revision>1</cp:revision>
  <dcterms:created xsi:type="dcterms:W3CDTF">2016-05-07T23:28:48Z</dcterms:created>
  <dcterms:modified xsi:type="dcterms:W3CDTF">2025-02-08T09:17:50Z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0x0101004A4071AB2BE2774A9C6F5D2B7BD14EDC</vt:lpwstr>
  </property>
  <property fmtid="{D5CDD505-2E9C-101B-9397-08002B2CF9AE}" pid="3" name="MediaServiceImageTags">
    <vt:lpwstr/>
  </property>
</Properties>
</file>