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12" r:id="rId4"/>
  </p:sldMasterIdLst>
  <p:notesMasterIdLst>
    <p:notesMasterId r:id="rId20"/>
  </p:notesMasterIdLst>
  <p:handoutMasterIdLst>
    <p:handoutMasterId r:id="rId21"/>
  </p:handoutMasterIdLst>
  <p:sldIdLst>
    <p:sldId id="256" r:id="rId5"/>
    <p:sldId id="325" r:id="rId6"/>
    <p:sldId id="322" r:id="rId7"/>
    <p:sldId id="385" r:id="rId8"/>
    <p:sldId id="387" r:id="rId9"/>
    <p:sldId id="386" r:id="rId10"/>
    <p:sldId id="388" r:id="rId11"/>
    <p:sldId id="389" r:id="rId12"/>
    <p:sldId id="395" r:id="rId13"/>
    <p:sldId id="390" r:id="rId14"/>
    <p:sldId id="396" r:id="rId15"/>
    <p:sldId id="397" r:id="rId16"/>
    <p:sldId id="398" r:id="rId17"/>
    <p:sldId id="399" r:id="rId18"/>
    <p:sldId id="400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 Minh Phuoc" initials="NMP" lastIdx="1" clrIdx="0">
    <p:extLst>
      <p:ext uri="{19B8F6BF-5375-455C-9EA6-DF929625EA0E}">
        <p15:presenceInfo xmlns:p15="http://schemas.microsoft.com/office/powerpoint/2012/main" userId="Ngo Minh Phuo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2" autoAdjust="0"/>
    <p:restoredTop sz="94665"/>
  </p:normalViewPr>
  <p:slideViewPr>
    <p:cSldViewPr snapToGrid="0" snapToObjects="1">
      <p:cViewPr varScale="1">
        <p:scale>
          <a:sx n="105" d="100"/>
          <a:sy n="105" d="100"/>
        </p:scale>
        <p:origin x="18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Hong Thach" userId="S::thach.lamhong@hust.edu.vn::d0f09ddf-ce38-45e1-9f5d-2c21d31eb6e7" providerId="AD" clId="Web-{DC84FB0A-394A-C64C-72A1-1360DA2830AC}"/>
    <pc:docChg chg="modSld">
      <pc:chgData name="Lam Hong Thach" userId="S::thach.lamhong@hust.edu.vn::d0f09ddf-ce38-45e1-9f5d-2c21d31eb6e7" providerId="AD" clId="Web-{DC84FB0A-394A-C64C-72A1-1360DA2830AC}" dt="2025-02-08T05:14:10.373" v="0" actId="14100"/>
      <pc:docMkLst>
        <pc:docMk/>
      </pc:docMkLst>
      <pc:sldChg chg="modSp">
        <pc:chgData name="Lam Hong Thach" userId="S::thach.lamhong@hust.edu.vn::d0f09ddf-ce38-45e1-9f5d-2c21d31eb6e7" providerId="AD" clId="Web-{DC84FB0A-394A-C64C-72A1-1360DA2830AC}" dt="2025-02-08T05:14:10.373" v="0" actId="14100"/>
        <pc:sldMkLst>
          <pc:docMk/>
          <pc:sldMk cId="4057021689" sldId="399"/>
        </pc:sldMkLst>
        <pc:spChg chg="mod">
          <ac:chgData name="Lam Hong Thach" userId="S::thach.lamhong@hust.edu.vn::d0f09ddf-ce38-45e1-9f5d-2c21d31eb6e7" providerId="AD" clId="Web-{DC84FB0A-394A-C64C-72A1-1360DA2830AC}" dt="2025-02-08T05:14:10.373" v="0" actId="14100"/>
          <ac:spMkLst>
            <pc:docMk/>
            <pc:sldMk cId="4057021689" sldId="399"/>
            <ac:spMk id="2" creationId="{4073B589-DBAA-D5EF-ABE0-A2BAA430AC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12953-CB91-BC47-88D1-BBBE82DC2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0CA16-40A2-9C40-8E59-791F5FFE04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F2C7B-E7AE-D442-BF2E-6CA2CF3C01D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0C1D6-A161-7E42-A6FE-4EACC0D5E5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3EB5F-A1DC-0B47-9E91-E08F9B065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0B931-B215-6847-8C0F-1B4B51964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28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628C3-B4FC-7A4F-B985-13EC65DF1457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783F-DCC3-304A-B867-3F455E5FA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91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2783F-DCC3-304A-B867-3F455E5FA1DF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2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1A79-46D9-F342-91B9-FCB91961B94C}" type="datetime4">
              <a:rPr lang="en-US" smtClean="0"/>
              <a:t>February 10,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alphaModFix amt="2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0484"/>
            <a:ext cx="5442155" cy="4835680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latin typeface="+mn-lt"/>
              </a:defRPr>
            </a:lvl1pPr>
            <a:lvl2pPr marL="457200" indent="-18288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Ø"/>
              <a:defRPr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ü"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DE96-4665-3342-B5C2-E6BD4AB19EDE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28939" y="6492875"/>
            <a:ext cx="1315721" cy="365125"/>
          </a:xfrm>
        </p:spPr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E2DE48-AF62-2742-AED4-8694825AC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210" y="81280"/>
            <a:ext cx="570920" cy="8424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CAB4-CD83-4849-857B-BDD391173525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A07C-B2BD-D84F-9EF3-9ADAE6BB64A5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BB697-578A-ED45-A0A0-FEB252785680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CFA6E0-3A4B-4F49-B5B4-D73EA8DC47C6}"/>
              </a:ext>
            </a:extLst>
          </p:cNvPr>
          <p:cNvGrpSpPr/>
          <p:nvPr userDrawn="1"/>
        </p:nvGrpSpPr>
        <p:grpSpPr>
          <a:xfrm>
            <a:off x="0" y="0"/>
            <a:ext cx="9144000" cy="1042681"/>
            <a:chOff x="0" y="0"/>
            <a:chExt cx="9144000" cy="104268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0D7021-AC0A-468C-BA9B-0FB54B5CF157}"/>
                </a:ext>
              </a:extLst>
            </p:cNvPr>
            <p:cNvSpPr/>
            <p:nvPr userDrawn="1"/>
          </p:nvSpPr>
          <p:spPr>
            <a:xfrm>
              <a:off x="0" y="0"/>
              <a:ext cx="9144000" cy="1042681"/>
            </a:xfrm>
            <a:prstGeom prst="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095F1D-3AA8-4C3D-94A3-0E8298F89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4919" y="66372"/>
              <a:ext cx="606650" cy="909976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E8139E5-4D1A-499F-9530-F67E94387D4F}"/>
              </a:ext>
            </a:extLst>
          </p:cNvPr>
          <p:cNvSpPr txBox="1">
            <a:spLocks/>
          </p:cNvSpPr>
          <p:nvPr userDrawn="1"/>
        </p:nvSpPr>
        <p:spPr>
          <a:xfrm>
            <a:off x="1076632" y="66374"/>
            <a:ext cx="7808605" cy="7300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0" u="none" kern="1200" cap="all" spc="-6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8E04D-4265-DB44-8105-69941C12B53E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0BAF-B72B-8C47-9F5D-09B79899845D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4D48E-EE09-5147-AE86-E952991378CE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FC4D-02BC-3D49-9A16-C40C6CA8F520}" type="datetime4">
              <a:rPr lang="en-US" smtClean="0"/>
              <a:t>February 10,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1: KHÁI NIỆM CHUNG VỀ ĐIỆN TỬ CÔNG SUẤT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E1CA3E8-B6D8-3B41-B374-4560F909FBCB}" type="datetime4">
              <a:rPr lang="en-US" smtClean="0"/>
              <a:t>February 10,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BÀI 1: KHÁI NIỆM CHUNG VỀ ĐIỆN TỬ CÔNG SUẤT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0" i="0" u="none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50" y="2471596"/>
            <a:ext cx="8700899" cy="1412341"/>
          </a:xfrm>
        </p:spPr>
        <p:txBody>
          <a:bodyPr>
            <a:normAutofit/>
          </a:bodyPr>
          <a:lstStyle/>
          <a:p>
            <a:pPr algn="ctr"/>
            <a:r>
              <a:rPr lang="vi-VN" sz="2600" b="1" dirty="0">
                <a:solidFill>
                  <a:srgbClr val="002060"/>
                </a:solidFill>
                <a:latin typeface="Arial Unicode MS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Arial Unicode MS"/>
              </a:rPr>
              <a:t>HỆ THỐNG VIỄN </a:t>
            </a:r>
            <a:r>
              <a:rPr lang="vi-VN" sz="2600" b="1" dirty="0">
                <a:solidFill>
                  <a:srgbClr val="002060"/>
                </a:solidFill>
                <a:latin typeface="Arial Unicode MS"/>
              </a:rPr>
              <a:t>T</a:t>
            </a:r>
            <a:r>
              <a:rPr lang="en-US" sz="2600" b="1" dirty="0">
                <a:solidFill>
                  <a:srgbClr val="002060"/>
                </a:solidFill>
                <a:latin typeface="Arial Unicode MS"/>
              </a:rPr>
              <a:t>HÔNG</a:t>
            </a:r>
          </a:p>
          <a:p>
            <a:pPr algn="ctr"/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HỆ THỐNG VIỄN THÔNG</a:t>
            </a: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1" y="132706"/>
            <a:ext cx="845757" cy="1268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6801" y="508790"/>
            <a:ext cx="76697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VIỆN </a:t>
            </a:r>
            <a:r>
              <a:rPr lang="vi-VN" b="1" dirty="0"/>
              <a:t>ĐIỆN TỬ VIỄN THÔNG</a:t>
            </a:r>
            <a:endParaRPr lang="en-US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/>
              <a:t>TR</a:t>
            </a:r>
            <a:r>
              <a:rPr lang="vi-VN" sz="2400" b="1" dirty="0"/>
              <a:t>Ư</a:t>
            </a:r>
            <a:r>
              <a:rPr lang="en-US" sz="2400" b="1" dirty="0"/>
              <a:t>ỜNG ĐẠI HỌC BÁCH KHOA HÀ NỘI</a:t>
            </a:r>
          </a:p>
        </p:txBody>
      </p:sp>
    </p:spTree>
    <p:extLst>
      <p:ext uri="{BB962C8B-B14F-4D97-AF65-F5344CB8AC3E}">
        <p14:creationId xmlns:p14="http://schemas.microsoft.com/office/powerpoint/2010/main" val="383876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0CA2A-6486-41DE-8E78-FC5A56BF5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569" y="1431973"/>
            <a:ext cx="6530768" cy="45704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1.1.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viễn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viễn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1.3.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–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1.4.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thu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1.5.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-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tuyến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1.6.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dirty="0"/>
              <a:t>1.7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Arial Unicode MS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4098" y="315911"/>
            <a:ext cx="810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1. TỔNG QUAN VỀ HỆ THỐNG VIỄN THÔNG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B3BB4-44E9-4D0B-BAAC-F2F1A6736917}"/>
              </a:ext>
            </a:extLst>
          </p:cNvPr>
          <p:cNvSpPr txBox="1"/>
          <p:nvPr/>
        </p:nvSpPr>
        <p:spPr>
          <a:xfrm>
            <a:off x="741569" y="970308"/>
            <a:ext cx="2090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2C802-B54D-7044-839F-5378EC5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6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471697" y="1331912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1.1.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Khái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niệm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về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A6040-F20F-B24B-B2F3-4DBA5668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1AE6E-6CAC-4411-8993-A481D3759C73}"/>
              </a:ext>
            </a:extLst>
          </p:cNvPr>
          <p:cNvSpPr txBox="1"/>
          <p:nvPr/>
        </p:nvSpPr>
        <p:spPr>
          <a:xfrm>
            <a:off x="1019907" y="315911"/>
            <a:ext cx="7879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1. TỔNG QUAN VỀ HỆ THỐNG VIỄN THÔNG</a:t>
            </a:r>
            <a:endParaRPr lang="en-US" sz="2000" b="1" dirty="0">
              <a:solidFill>
                <a:srgbClr val="002060"/>
              </a:solidFill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Pin page">
            <a:extLst>
              <a:ext uri="{FF2B5EF4-FFF2-40B4-BE49-F238E27FC236}">
                <a16:creationId xmlns:a16="http://schemas.microsoft.com/office/drawing/2014/main" id="{FAC9EC71-3B40-BBB4-68B0-36F2A12F9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87231"/>
            <a:ext cx="7010400" cy="299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DC3513-6561-3AA9-7AF7-E48C055198FD}"/>
              </a:ext>
            </a:extLst>
          </p:cNvPr>
          <p:cNvSpPr txBox="1">
            <a:spLocks/>
          </p:cNvSpPr>
          <p:nvPr/>
        </p:nvSpPr>
        <p:spPr>
          <a:xfrm>
            <a:off x="624097" y="1964142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T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elecommunication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System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là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truyền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tin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đi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xa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D3920C-82CF-A882-8993-224607CB6FD6}"/>
              </a:ext>
            </a:extLst>
          </p:cNvPr>
          <p:cNvSpPr txBox="1">
            <a:spLocks/>
          </p:cNvSpPr>
          <p:nvPr/>
        </p:nvSpPr>
        <p:spPr>
          <a:xfrm>
            <a:off x="624097" y="2424353"/>
            <a:ext cx="8158163" cy="4587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Sơ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en-US" sz="1800" cap="none" spc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đồ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800" cap="none" spc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khối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800" cap="none" spc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cơ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800" cap="none" spc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bản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800" cap="none" spc="0" dirty="0" err="1">
                <a:solidFill>
                  <a:srgbClr val="000000"/>
                </a:solidFill>
                <a:latin typeface="Arial"/>
                <a:ea typeface="+mn-ea"/>
                <a:cs typeface="+mn-cs"/>
              </a:rPr>
              <a:t>một</a:t>
            </a:r>
            <a:r>
              <a:rPr lang="en-US" sz="1800" cap="none" spc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ệ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được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trình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bày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trên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1.1</a:t>
            </a:r>
          </a:p>
        </p:txBody>
      </p:sp>
    </p:spTree>
    <p:extLst>
      <p:ext uri="{BB962C8B-B14F-4D97-AF65-F5344CB8AC3E}">
        <p14:creationId xmlns:p14="http://schemas.microsoft.com/office/powerpoint/2010/main" val="235537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5AAAC-4721-3945-AA11-591B7253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3615B-251A-43F2-901E-95B93E2FE1C7}"/>
              </a:ext>
            </a:extLst>
          </p:cNvPr>
          <p:cNvSpPr txBox="1"/>
          <p:nvPr/>
        </p:nvSpPr>
        <p:spPr>
          <a:xfrm>
            <a:off x="949569" y="315911"/>
            <a:ext cx="74031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0" y="1752600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52600"/>
                        <a:ext cx="1143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0" y="1752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71">
            <a:extLst>
              <a:ext uri="{FF2B5EF4-FFF2-40B4-BE49-F238E27FC236}">
                <a16:creationId xmlns:a16="http://schemas.microsoft.com/office/drawing/2014/main" id="{52FFCD5D-BB0D-4D06-9C8B-B0DB6F8D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2226" y="1746214"/>
            <a:ext cx="8134368" cy="4360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1.1 ta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(Information Source)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(Transmitter)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(1)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(Channel)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nhiễu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(Noise Source)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(Receiver) –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(Destination)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Nơi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58F62-A958-1FBB-0FEB-82F0588DCCC8}"/>
              </a:ext>
            </a:extLst>
          </p:cNvPr>
          <p:cNvSpPr txBox="1"/>
          <p:nvPr/>
        </p:nvSpPr>
        <p:spPr>
          <a:xfrm>
            <a:off x="645060" y="1000912"/>
            <a:ext cx="614503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1.1.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Khái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niệm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về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770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611966-A17F-4DC9-A210-45A444BEB3D1}"/>
              </a:ext>
            </a:extLst>
          </p:cNvPr>
          <p:cNvSpPr txBox="1"/>
          <p:nvPr/>
        </p:nvSpPr>
        <p:spPr>
          <a:xfrm>
            <a:off x="949569" y="315911"/>
            <a:ext cx="75633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9799" y="1875552"/>
            <a:ext cx="3015934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1.2.1.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Mô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cơ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bản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0979" y="1136757"/>
            <a:ext cx="4556055" cy="496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Mô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số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76" name="Picture 4" descr="Difference between Analog Communication and Digital Communication -  GeeksforGeeks">
            <a:extLst>
              <a:ext uri="{FF2B5EF4-FFF2-40B4-BE49-F238E27FC236}">
                <a16:creationId xmlns:a16="http://schemas.microsoft.com/office/drawing/2014/main" id="{943B76B9-57FD-0982-467D-231D042D1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325" y="2575935"/>
            <a:ext cx="7272604" cy="310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C557A-1B09-C785-11E8-D0273DC7B1D9}"/>
              </a:ext>
            </a:extLst>
          </p:cNvPr>
          <p:cNvSpPr txBox="1"/>
          <p:nvPr/>
        </p:nvSpPr>
        <p:spPr>
          <a:xfrm>
            <a:off x="1009463" y="5828497"/>
            <a:ext cx="711149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latin typeface="Arial"/>
              </a:rPr>
              <a:t>So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sánh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m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ô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HTVT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tương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tự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và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mô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hình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HTVT </a:t>
            </a:r>
            <a:r>
              <a:rPr lang="en-US" dirty="0" err="1">
                <a:solidFill>
                  <a:srgbClr val="FF0000"/>
                </a:solidFill>
                <a:latin typeface="Arial"/>
              </a:rPr>
              <a:t>số</a:t>
            </a:r>
            <a:r>
              <a:rPr lang="en-US" dirty="0">
                <a:solidFill>
                  <a:srgbClr val="FF0000"/>
                </a:solidFill>
                <a:latin typeface="Arial"/>
              </a:rPr>
              <a:t> ?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52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387787-2132-4507-9799-14A17A5E20EA}"/>
              </a:ext>
            </a:extLst>
          </p:cNvPr>
          <p:cNvSpPr txBox="1">
            <a:spLocks/>
          </p:cNvSpPr>
          <p:nvPr/>
        </p:nvSpPr>
        <p:spPr>
          <a:xfrm>
            <a:off x="257452" y="851028"/>
            <a:ext cx="7771487" cy="10678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i="0" u="none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1.2.2.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Mô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số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Các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khối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cơ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bản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>
              <a:defRPr/>
            </a:pP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50B5-ED44-7D4D-90E9-1A7CBF66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C1BE9-4373-4010-9445-A7EEEC50DF14}"/>
              </a:ext>
            </a:extLst>
          </p:cNvPr>
          <p:cNvSpPr txBox="1"/>
          <p:nvPr/>
        </p:nvSpPr>
        <p:spPr>
          <a:xfrm>
            <a:off x="949569" y="315911"/>
            <a:ext cx="70793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14946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21449-3D19-AEC5-424B-F54F909C8729}"/>
              </a:ext>
            </a:extLst>
          </p:cNvPr>
          <p:cNvSpPr txBox="1"/>
          <p:nvPr/>
        </p:nvSpPr>
        <p:spPr>
          <a:xfrm>
            <a:off x="769544" y="1674380"/>
            <a:ext cx="8184333" cy="568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Trong m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ô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hình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hệ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thống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viễn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thông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số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ở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trên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có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</a:t>
            </a: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gửi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(Information Source)</a:t>
            </a: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(Encoder)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(Modulator)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(Channel)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xa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(Demodulator)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(Decoder)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(Destination)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Nơi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5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AC22F-C255-4EE2-8FD7-0A485FE3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1F16A-39C7-4506-AA97-4DEA78CC8B5B}"/>
              </a:ext>
            </a:extLst>
          </p:cNvPr>
          <p:cNvSpPr txBox="1"/>
          <p:nvPr/>
        </p:nvSpPr>
        <p:spPr>
          <a:xfrm>
            <a:off x="914399" y="315911"/>
            <a:ext cx="76954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9AADC-401A-4787-8195-64CA69D31D31}"/>
              </a:ext>
            </a:extLst>
          </p:cNvPr>
          <p:cNvSpPr/>
          <p:nvPr/>
        </p:nvSpPr>
        <p:spPr>
          <a:xfrm>
            <a:off x="914399" y="1008408"/>
            <a:ext cx="77859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1.2.3.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2426BA-BBC6-4E00-A871-A6A4E4DB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5F652-5BDF-BC22-7AAE-9FC82F24F6A2}"/>
              </a:ext>
            </a:extLst>
          </p:cNvPr>
          <p:cNvSpPr/>
          <p:nvPr/>
        </p:nvSpPr>
        <p:spPr>
          <a:xfrm>
            <a:off x="885734" y="1740227"/>
            <a:ext cx="778598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(Baseband)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dải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(Bandpass)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(Bandwidth)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bit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suất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suất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tạp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âm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năng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lượng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bit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mật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suất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tạp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âm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  <a:defRPr/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71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7B3E9-69F9-4CC4-980F-1C566A0B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0C3EF6-03E9-4AD1-9FB5-7D08C7D3E1FD}"/>
              </a:ext>
            </a:extLst>
          </p:cNvPr>
          <p:cNvSpPr txBox="1"/>
          <p:nvPr/>
        </p:nvSpPr>
        <p:spPr>
          <a:xfrm>
            <a:off x="949569" y="315911"/>
            <a:ext cx="68931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A13E6-EFDE-47C5-D197-16AC07529A6A}"/>
              </a:ext>
            </a:extLst>
          </p:cNvPr>
          <p:cNvSpPr txBox="1"/>
          <p:nvPr/>
        </p:nvSpPr>
        <p:spPr>
          <a:xfrm>
            <a:off x="1013988" y="931464"/>
            <a:ext cx="5993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1.2.4.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Đơn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vị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toán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sử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dụng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5510C-802A-A641-2E78-5C1269F46F96}"/>
              </a:ext>
            </a:extLst>
          </p:cNvPr>
          <p:cNvSpPr txBox="1"/>
          <p:nvPr/>
        </p:nvSpPr>
        <p:spPr>
          <a:xfrm>
            <a:off x="1013988" y="1656784"/>
            <a:ext cx="59933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Decibel,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viết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tắt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là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khuếch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suy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hao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 C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đương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4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8C3BEF-204C-C71F-0620-A7897CD9B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223" y="1656784"/>
            <a:ext cx="7280645" cy="42279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AFA6F-98BA-E12A-5459-4CD62E5C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BEB31-45CE-E868-5E75-8FB4C2E808FE}"/>
              </a:ext>
            </a:extLst>
          </p:cNvPr>
          <p:cNvSpPr txBox="1"/>
          <p:nvPr/>
        </p:nvSpPr>
        <p:spPr>
          <a:xfrm>
            <a:off x="986829" y="334978"/>
            <a:ext cx="7523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8F4D7-2A65-3F27-A387-B9D54DF95889}"/>
              </a:ext>
            </a:extLst>
          </p:cNvPr>
          <p:cNvSpPr txBox="1"/>
          <p:nvPr/>
        </p:nvSpPr>
        <p:spPr>
          <a:xfrm>
            <a:off x="1086416" y="858535"/>
            <a:ext cx="5920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1.2.4. Đ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toán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sử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dụng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99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9C74F-27E3-47E4-B98B-355511BA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B34B3-D6DA-4057-A5D7-C12820C4F26E}"/>
              </a:ext>
            </a:extLst>
          </p:cNvPr>
          <p:cNvSpPr txBox="1"/>
          <p:nvPr/>
        </p:nvSpPr>
        <p:spPr>
          <a:xfrm>
            <a:off x="966731" y="315911"/>
            <a:ext cx="730306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sz="1400" b="1" i="1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4E235-3259-45E2-835B-E14456E906CB}"/>
              </a:ext>
            </a:extLst>
          </p:cNvPr>
          <p:cNvSpPr/>
          <p:nvPr/>
        </p:nvSpPr>
        <p:spPr>
          <a:xfrm>
            <a:off x="457203" y="1119091"/>
            <a:ext cx="774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1.2.4.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Đơn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vị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lượng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toán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sử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dụng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371" y="1727768"/>
            <a:ext cx="7911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suất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bức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xạ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đẳng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vi-VN" dirty="0">
                <a:latin typeface="Times New Roman" panose="02020603050405020304" pitchFamily="18" charset="0"/>
                <a:ea typeface="Calibri" panose="020F0502020204030204" pitchFamily="34" charset="0"/>
              </a:rPr>
              <a:t>Equivalent Isotropic Radiated Power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) 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028" y="2308301"/>
            <a:ext cx="1866667" cy="401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974" y="2847991"/>
            <a:ext cx="2351551" cy="3970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3" y="3344693"/>
            <a:ext cx="31056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vi-VN">
                <a:latin typeface="Times New Roman" panose="02020603050405020304" pitchFamily="18" charset="0"/>
                <a:ea typeface="Calibri" panose="020F0502020204030204" pitchFamily="34" charset="0"/>
              </a:rPr>
              <a:t>ật độ thông lượng công suất </a:t>
            </a: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74" y="3928972"/>
            <a:ext cx="3058781" cy="6876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61" y="4831552"/>
            <a:ext cx="8274867" cy="18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ED6A76-DB7A-ED1B-DA51-23B93AB6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48" y="1376122"/>
            <a:ext cx="8555523" cy="805763"/>
          </a:xfrm>
        </p:spPr>
        <p:txBody>
          <a:bodyPr>
            <a:normAutofit/>
          </a:bodyPr>
          <a:lstStyle/>
          <a:p>
            <a:r>
              <a:rPr lang="en-US" b="0" dirty="0" err="1"/>
              <a:t>Hệ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mạng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(</a:t>
            </a:r>
            <a:r>
              <a:rPr lang="en-US" b="0" dirty="0" err="1"/>
              <a:t>hai</a:t>
            </a:r>
            <a:r>
              <a:rPr lang="en-US" b="0" dirty="0"/>
              <a:t> </a:t>
            </a:r>
            <a:r>
              <a:rPr lang="en-US" b="0" dirty="0" err="1"/>
              <a:t>cửa</a:t>
            </a:r>
            <a:r>
              <a:rPr lang="en-US" b="0" dirty="0"/>
              <a:t>) </a:t>
            </a:r>
            <a:r>
              <a:rPr lang="en-US" b="0" dirty="0" err="1"/>
              <a:t>phản</a:t>
            </a:r>
            <a:r>
              <a:rPr lang="en-US" b="0" dirty="0"/>
              <a:t> </a:t>
            </a:r>
            <a:r>
              <a:rPr lang="en-US" b="0" dirty="0" err="1"/>
              <a:t>ánh</a:t>
            </a:r>
            <a:r>
              <a:rPr lang="en-US" b="0" dirty="0"/>
              <a:t> </a:t>
            </a:r>
            <a:r>
              <a:rPr lang="en-US" b="0" dirty="0" err="1"/>
              <a:t>mức</a:t>
            </a:r>
            <a:r>
              <a:rPr lang="en-US" b="0" dirty="0"/>
              <a:t> </a:t>
            </a:r>
            <a:r>
              <a:rPr lang="en-US" b="0" dirty="0" err="1"/>
              <a:t>suy</a:t>
            </a:r>
            <a:r>
              <a:rPr lang="en-US" b="0" dirty="0"/>
              <a:t> </a:t>
            </a:r>
            <a:r>
              <a:rPr lang="en-US" b="0" dirty="0" err="1"/>
              <a:t>giảm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tỷ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</a:t>
            </a:r>
            <a:r>
              <a:rPr lang="en-US" b="0" dirty="0" err="1"/>
              <a:t>tín</a:t>
            </a:r>
            <a:r>
              <a:rPr lang="en-US" b="0" dirty="0"/>
              <a:t> </a:t>
            </a:r>
            <a:r>
              <a:rPr lang="en-US" b="0" dirty="0" err="1"/>
              <a:t>hiệu</a:t>
            </a:r>
            <a:r>
              <a:rPr lang="en-US" b="0" dirty="0"/>
              <a:t> </a:t>
            </a:r>
            <a:r>
              <a:rPr lang="en-US" b="0" dirty="0" err="1"/>
              <a:t>trên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ở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ra</a:t>
            </a:r>
            <a:r>
              <a:rPr lang="en-US" b="0" dirty="0"/>
              <a:t> so </a:t>
            </a:r>
            <a:r>
              <a:rPr lang="en-US" b="0" dirty="0" err="1"/>
              <a:t>với</a:t>
            </a:r>
            <a:r>
              <a:rPr lang="en-US" b="0" dirty="0"/>
              <a:t>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vào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55F33-4B27-5CBD-21F4-B5716AB7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9274F-A77E-8D90-16A3-D156DD07BF47}"/>
              </a:ext>
            </a:extLst>
          </p:cNvPr>
          <p:cNvSpPr txBox="1"/>
          <p:nvPr/>
        </p:nvSpPr>
        <p:spPr>
          <a:xfrm>
            <a:off x="965715" y="260790"/>
            <a:ext cx="7473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08391-670D-906F-C740-7DE5E08A6F23}"/>
              </a:ext>
            </a:extLst>
          </p:cNvPr>
          <p:cNvSpPr txBox="1"/>
          <p:nvPr/>
        </p:nvSpPr>
        <p:spPr>
          <a:xfrm>
            <a:off x="832921" y="897226"/>
            <a:ext cx="6174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1.3.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100" name="Picture 4" descr="Z Parameter of Two Port Network - Definition, Calculation and Significance">
            <a:extLst>
              <a:ext uri="{FF2B5EF4-FFF2-40B4-BE49-F238E27FC236}">
                <a16:creationId xmlns:a16="http://schemas.microsoft.com/office/drawing/2014/main" id="{CD9D0C97-6ED8-8B66-70E1-51F8868BB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280" y="2034334"/>
            <a:ext cx="5423025" cy="181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Understanding Noise Parameter Measurements - Mini-Circuits Blog">
            <a:extLst>
              <a:ext uri="{FF2B5EF4-FFF2-40B4-BE49-F238E27FC236}">
                <a16:creationId xmlns:a16="http://schemas.microsoft.com/office/drawing/2014/main" id="{1063D425-3191-30B2-5802-61F025DA5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127" y="4427140"/>
            <a:ext cx="6652812" cy="242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22C2861A-54AC-4A30-63D9-85793D643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231" y="3627462"/>
            <a:ext cx="25050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062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1A53-3FC0-7DED-5B7A-85E9446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 descr="Cascaded Noise Figure Calculator - everything RF">
            <a:extLst>
              <a:ext uri="{FF2B5EF4-FFF2-40B4-BE49-F238E27FC236}">
                <a16:creationId xmlns:a16="http://schemas.microsoft.com/office/drawing/2014/main" id="{E254913A-1066-4AD6-B383-1E1E99EA1B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127" y="1874173"/>
            <a:ext cx="5549774" cy="15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0C7D18-3A20-966A-8ED3-E0CFE4ED18FE}"/>
              </a:ext>
            </a:extLst>
          </p:cNvPr>
          <p:cNvSpPr txBox="1"/>
          <p:nvPr/>
        </p:nvSpPr>
        <p:spPr>
          <a:xfrm>
            <a:off x="1113575" y="387538"/>
            <a:ext cx="6654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CHƯƠNG 1. TỔNG QUAN VỀ HỆ THỐNG VIỄN THÔNG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FF353-C1B8-4EDC-DA9F-D6958A8995CC}"/>
              </a:ext>
            </a:extLst>
          </p:cNvPr>
          <p:cNvSpPr txBox="1"/>
          <p:nvPr/>
        </p:nvSpPr>
        <p:spPr>
          <a:xfrm>
            <a:off x="1113575" y="960595"/>
            <a:ext cx="58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1.3.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nhều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34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0528F9-9053-7AF5-1DDB-DEE14099A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484"/>
            <a:ext cx="7973568" cy="4835680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2. </a:t>
            </a:r>
            <a:r>
              <a:rPr lang="en-US" b="0" dirty="0" err="1"/>
              <a:t>Nhiệt</a:t>
            </a:r>
            <a:r>
              <a:rPr lang="en-US" b="0" dirty="0"/>
              <a:t> 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6D752-7143-026C-69AC-8D93A6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5E1940B-B81C-77C9-7E9D-A8ED0712FEA0}"/>
              </a:ext>
            </a:extLst>
          </p:cNvPr>
          <p:cNvSpPr txBox="1">
            <a:spLocks/>
          </p:cNvSpPr>
          <p:nvPr/>
        </p:nvSpPr>
        <p:spPr>
          <a:xfrm>
            <a:off x="516048" y="1760170"/>
            <a:ext cx="8555523" cy="80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+mj-lt"/>
              <a:buAutoNum type="arabicPeriod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0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 err="1"/>
              <a:t>Hệ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mạng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</a:t>
            </a:r>
            <a:r>
              <a:rPr lang="en-US" b="0" dirty="0" err="1"/>
              <a:t>thường</a:t>
            </a:r>
            <a:r>
              <a:rPr lang="en-US" b="0" dirty="0"/>
              <a:t> </a:t>
            </a:r>
            <a:r>
              <a:rPr lang="en-US" b="0" dirty="0" err="1"/>
              <a:t>được</a:t>
            </a:r>
            <a:r>
              <a:rPr lang="en-US" b="0" dirty="0"/>
              <a:t> </a:t>
            </a:r>
            <a:r>
              <a:rPr lang="en-US" b="0" dirty="0" err="1"/>
              <a:t>định</a:t>
            </a:r>
            <a:r>
              <a:rPr lang="en-US" b="0" dirty="0"/>
              <a:t> </a:t>
            </a:r>
            <a:r>
              <a:rPr lang="en-US" b="0" dirty="0" err="1"/>
              <a:t>nghĩa</a:t>
            </a:r>
            <a:r>
              <a:rPr lang="en-US" b="0" dirty="0"/>
              <a:t> </a:t>
            </a:r>
            <a:r>
              <a:rPr lang="en-US" b="0" dirty="0" err="1"/>
              <a:t>trong</a:t>
            </a:r>
            <a:r>
              <a:rPr lang="en-US" b="0" dirty="0"/>
              <a:t> </a:t>
            </a:r>
            <a:r>
              <a:rPr lang="en-US" b="0" dirty="0" err="1"/>
              <a:t>điều</a:t>
            </a:r>
            <a:r>
              <a:rPr lang="en-US" b="0" dirty="0"/>
              <a:t> </a:t>
            </a:r>
            <a:r>
              <a:rPr lang="en-US" b="0" dirty="0" err="1"/>
              <a:t>kiện</a:t>
            </a:r>
            <a:r>
              <a:rPr lang="en-US" b="0" dirty="0"/>
              <a:t> </a:t>
            </a:r>
            <a:r>
              <a:rPr lang="en-US" b="0" dirty="0" err="1"/>
              <a:t>nhiệt</a:t>
            </a:r>
            <a:r>
              <a:rPr lang="en-US" b="0" dirty="0"/>
              <a:t> 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tiêu</a:t>
            </a:r>
            <a:r>
              <a:rPr lang="en-US" b="0" dirty="0"/>
              <a:t> </a:t>
            </a:r>
            <a:r>
              <a:rPr lang="en-US" b="0" dirty="0" err="1"/>
              <a:t>chuẩn</a:t>
            </a:r>
            <a:r>
              <a:rPr lang="en-US" b="0" dirty="0"/>
              <a:t> </a:t>
            </a:r>
          </a:p>
          <a:p>
            <a:endParaRPr lang="en-US" b="0" dirty="0"/>
          </a:p>
          <a:p>
            <a:pPr marL="0" indent="0">
              <a:buNone/>
            </a:pPr>
            <a:endParaRPr lang="en-US" b="0" dirty="0"/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C9D9A16-8CF4-8924-A815-CF344433CD58}"/>
              </a:ext>
            </a:extLst>
          </p:cNvPr>
          <p:cNvSpPr txBox="1">
            <a:spLocks/>
          </p:cNvSpPr>
          <p:nvPr/>
        </p:nvSpPr>
        <p:spPr>
          <a:xfrm>
            <a:off x="558720" y="2762962"/>
            <a:ext cx="8555523" cy="1529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+mj-lt"/>
              <a:buAutoNum type="arabicPeriod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0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/>
              <a:t>Khi </a:t>
            </a:r>
            <a:r>
              <a:rPr lang="en-US" b="0" dirty="0" err="1"/>
              <a:t>nhiệt</a:t>
            </a:r>
            <a:r>
              <a:rPr lang="en-US" b="0" dirty="0"/>
              <a:t> 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tăng</a:t>
            </a:r>
            <a:r>
              <a:rPr lang="en-US" b="0" dirty="0"/>
              <a:t>, </a:t>
            </a:r>
            <a:r>
              <a:rPr lang="en-US" b="0" dirty="0" err="1"/>
              <a:t>hệ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mạng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</a:t>
            </a:r>
            <a:r>
              <a:rPr lang="en-US" b="0" dirty="0" err="1"/>
              <a:t>tăng</a:t>
            </a:r>
            <a:r>
              <a:rPr lang="en-US" b="0" dirty="0"/>
              <a:t>. </a:t>
            </a:r>
            <a:r>
              <a:rPr lang="en-US" b="0" dirty="0" err="1"/>
              <a:t>Khái</a:t>
            </a:r>
            <a:r>
              <a:rPr lang="en-US" b="0" dirty="0"/>
              <a:t> </a:t>
            </a:r>
            <a:r>
              <a:rPr lang="en-US" b="0" dirty="0" err="1"/>
              <a:t>niệm</a:t>
            </a:r>
            <a:r>
              <a:rPr lang="en-US" b="0" dirty="0"/>
              <a:t> </a:t>
            </a:r>
            <a:r>
              <a:rPr lang="en-US" b="0" dirty="0" err="1"/>
              <a:t>nhiệt</a:t>
            </a:r>
            <a:r>
              <a:rPr lang="en-US" b="0" dirty="0"/>
              <a:t> 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tương</a:t>
            </a:r>
            <a:r>
              <a:rPr lang="en-US" b="0" dirty="0"/>
              <a:t> </a:t>
            </a:r>
            <a:r>
              <a:rPr lang="en-US" b="0" dirty="0" err="1"/>
              <a:t>đương</a:t>
            </a:r>
            <a:r>
              <a:rPr lang="en-US" b="0" dirty="0"/>
              <a:t> </a:t>
            </a:r>
            <a:r>
              <a:rPr lang="en-US" b="0" dirty="0" err="1"/>
              <a:t>là</a:t>
            </a:r>
            <a:r>
              <a:rPr lang="en-US" b="0" dirty="0"/>
              <a:t> </a:t>
            </a:r>
            <a:r>
              <a:rPr lang="en-US" b="0" dirty="0" err="1"/>
              <a:t>nhiệt</a:t>
            </a:r>
            <a:r>
              <a:rPr lang="en-US" b="0" dirty="0"/>
              <a:t> 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cần</a:t>
            </a:r>
            <a:r>
              <a:rPr lang="en-US" b="0" dirty="0"/>
              <a:t> </a:t>
            </a:r>
            <a:r>
              <a:rPr lang="en-US" b="0" dirty="0" err="1"/>
              <a:t>thiết</a:t>
            </a:r>
            <a:r>
              <a:rPr lang="en-US" b="0" dirty="0"/>
              <a:t> </a:t>
            </a:r>
            <a:r>
              <a:rPr lang="en-US" b="0" dirty="0" err="1"/>
              <a:t>phải</a:t>
            </a:r>
            <a:r>
              <a:rPr lang="en-US" b="0" dirty="0"/>
              <a:t> </a:t>
            </a:r>
            <a:r>
              <a:rPr lang="en-US" b="0" dirty="0" err="1"/>
              <a:t>tăng</a:t>
            </a:r>
            <a:r>
              <a:rPr lang="en-US" b="0" dirty="0"/>
              <a:t> </a:t>
            </a:r>
            <a:r>
              <a:rPr lang="en-US" b="0" dirty="0" err="1"/>
              <a:t>thêm</a:t>
            </a:r>
            <a:r>
              <a:rPr lang="en-US" b="0" dirty="0"/>
              <a:t> ở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vào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trở</a:t>
            </a:r>
            <a:r>
              <a:rPr lang="en-US" b="0" dirty="0"/>
              <a:t> </a:t>
            </a:r>
            <a:r>
              <a:rPr lang="en-US" b="0" dirty="0" err="1"/>
              <a:t>nguồn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mạng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</a:t>
            </a:r>
            <a:r>
              <a:rPr lang="en-US" b="0" dirty="0" err="1"/>
              <a:t>lý</a:t>
            </a:r>
            <a:r>
              <a:rPr lang="en-US" b="0" dirty="0"/>
              <a:t> </a:t>
            </a:r>
            <a:r>
              <a:rPr lang="en-US" b="0" dirty="0" err="1"/>
              <a:t>tưởng</a:t>
            </a:r>
            <a:r>
              <a:rPr lang="en-US" b="0" dirty="0"/>
              <a:t> (</a:t>
            </a:r>
            <a:r>
              <a:rPr lang="en-US" b="0" dirty="0" err="1"/>
              <a:t>không</a:t>
            </a:r>
            <a:r>
              <a:rPr lang="en-US" b="0" dirty="0"/>
              <a:t> </a:t>
            </a:r>
            <a:r>
              <a:rPr lang="en-US" b="0" dirty="0" err="1"/>
              <a:t>có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) </a:t>
            </a:r>
            <a:r>
              <a:rPr lang="en-US" b="0" dirty="0" err="1"/>
              <a:t>để</a:t>
            </a:r>
            <a:r>
              <a:rPr lang="en-US" b="0" dirty="0"/>
              <a:t> </a:t>
            </a:r>
            <a:r>
              <a:rPr lang="en-US" b="0" dirty="0" err="1"/>
              <a:t>công</a:t>
            </a:r>
            <a:r>
              <a:rPr lang="en-US" b="0" dirty="0"/>
              <a:t> </a:t>
            </a:r>
            <a:r>
              <a:rPr lang="en-US" b="0" dirty="0" err="1"/>
              <a:t>suất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ra</a:t>
            </a:r>
            <a:r>
              <a:rPr lang="en-US" b="0" dirty="0"/>
              <a:t> </a:t>
            </a:r>
            <a:r>
              <a:rPr lang="en-US" b="0" dirty="0" err="1"/>
              <a:t>bằng</a:t>
            </a:r>
            <a:r>
              <a:rPr lang="en-US" b="0" dirty="0"/>
              <a:t> </a:t>
            </a:r>
            <a:r>
              <a:rPr lang="en-US" b="0" dirty="0" err="1"/>
              <a:t>với</a:t>
            </a:r>
            <a:r>
              <a:rPr lang="en-US" b="0" dirty="0"/>
              <a:t> </a:t>
            </a:r>
            <a:r>
              <a:rPr lang="en-US" b="0" dirty="0" err="1"/>
              <a:t>công</a:t>
            </a:r>
            <a:r>
              <a:rPr lang="en-US" b="0" dirty="0"/>
              <a:t> </a:t>
            </a:r>
            <a:r>
              <a:rPr lang="en-US" b="0" dirty="0" err="1"/>
              <a:t>suất</a:t>
            </a:r>
            <a:r>
              <a:rPr lang="en-US" b="0" dirty="0"/>
              <a:t> </a:t>
            </a:r>
            <a:r>
              <a:rPr lang="en-US" b="0" dirty="0" err="1"/>
              <a:t>tạp</a:t>
            </a:r>
            <a:r>
              <a:rPr lang="en-US" b="0" dirty="0"/>
              <a:t> </a:t>
            </a:r>
            <a:r>
              <a:rPr lang="en-US" b="0" dirty="0" err="1"/>
              <a:t>âm</a:t>
            </a:r>
            <a:r>
              <a:rPr lang="en-US" b="0" dirty="0"/>
              <a:t>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ra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mạng</a:t>
            </a:r>
            <a:r>
              <a:rPr lang="en-US" b="0" dirty="0"/>
              <a:t> </a:t>
            </a:r>
            <a:r>
              <a:rPr lang="en-US" b="0" dirty="0" err="1"/>
              <a:t>bốn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</a:t>
            </a:r>
            <a:r>
              <a:rPr lang="en-US" b="0" dirty="0" err="1"/>
              <a:t>thực</a:t>
            </a:r>
            <a:r>
              <a:rPr lang="en-US" b="0" dirty="0"/>
              <a:t> </a:t>
            </a:r>
            <a:r>
              <a:rPr lang="en-US" b="0" dirty="0" err="1"/>
              <a:t>tế</a:t>
            </a:r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EC9F779-5352-5E8C-ABA4-15C7F53A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</p:spPr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HTVT</a:t>
            </a:r>
          </a:p>
        </p:txBody>
      </p:sp>
    </p:spTree>
    <p:extLst>
      <p:ext uri="{BB962C8B-B14F-4D97-AF65-F5344CB8AC3E}">
        <p14:creationId xmlns:p14="http://schemas.microsoft.com/office/powerpoint/2010/main" val="623292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73B589-DBAA-D5EF-ABE0-A2BAA430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484"/>
            <a:ext cx="8011619" cy="4835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1.4.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thu</a:t>
            </a:r>
            <a:endParaRPr lang="en-US" dirty="0"/>
          </a:p>
          <a:p>
            <a:pPr marL="0" indent="0">
              <a:buNone/>
            </a:pPr>
            <a:r>
              <a:rPr lang="en-US" b="0" dirty="0" err="1"/>
              <a:t>Dải</a:t>
            </a:r>
            <a:r>
              <a:rPr lang="en-US" b="0" dirty="0"/>
              <a:t> </a:t>
            </a:r>
            <a:r>
              <a:rPr lang="en-US" b="0" dirty="0" err="1"/>
              <a:t>động</a:t>
            </a:r>
            <a:r>
              <a:rPr lang="en-US" b="0" dirty="0"/>
              <a:t>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máy</a:t>
            </a:r>
            <a:r>
              <a:rPr lang="en-US" b="0" dirty="0"/>
              <a:t> </a:t>
            </a:r>
            <a:r>
              <a:rPr lang="en-US" b="0" dirty="0" err="1"/>
              <a:t>thu</a:t>
            </a:r>
            <a:r>
              <a:rPr lang="en-US" b="0" dirty="0"/>
              <a:t>: </a:t>
            </a:r>
            <a:r>
              <a:rPr lang="en-US" b="0" dirty="0" err="1"/>
              <a:t>từ</a:t>
            </a:r>
            <a:r>
              <a:rPr lang="en-US" b="0" dirty="0"/>
              <a:t> </a:t>
            </a:r>
            <a:r>
              <a:rPr lang="en-US" b="0" dirty="0" err="1"/>
              <a:t>mức</a:t>
            </a:r>
            <a:r>
              <a:rPr lang="en-US" b="0" dirty="0"/>
              <a:t> </a:t>
            </a:r>
            <a:r>
              <a:rPr lang="en-US" b="0" dirty="0" err="1"/>
              <a:t>tín</a:t>
            </a:r>
            <a:r>
              <a:rPr lang="en-US" b="0" dirty="0"/>
              <a:t> </a:t>
            </a:r>
            <a:r>
              <a:rPr lang="en-US" b="0" dirty="0" err="1"/>
              <a:t>hiệu</a:t>
            </a:r>
            <a:r>
              <a:rPr lang="en-US" b="0" dirty="0"/>
              <a:t> </a:t>
            </a:r>
            <a:r>
              <a:rPr lang="en-US" b="0" dirty="0" err="1"/>
              <a:t>thấp</a:t>
            </a:r>
            <a:r>
              <a:rPr lang="en-US" b="0" dirty="0"/>
              <a:t> </a:t>
            </a:r>
            <a:r>
              <a:rPr lang="en-US" b="0" dirty="0" err="1"/>
              <a:t>nhất</a:t>
            </a:r>
            <a:r>
              <a:rPr lang="en-US" b="0" dirty="0"/>
              <a:t> </a:t>
            </a:r>
            <a:r>
              <a:rPr lang="en-US" b="0" dirty="0" err="1"/>
              <a:t>máy</a:t>
            </a:r>
            <a:r>
              <a:rPr lang="en-US" b="0" dirty="0"/>
              <a:t> </a:t>
            </a:r>
            <a:r>
              <a:rPr lang="en-US" b="0" dirty="0" err="1"/>
              <a:t>thu</a:t>
            </a:r>
            <a:r>
              <a:rPr lang="en-US" b="0" dirty="0"/>
              <a:t> </a:t>
            </a:r>
            <a:r>
              <a:rPr lang="en-US" b="0" dirty="0" err="1"/>
              <a:t>có</a:t>
            </a:r>
            <a:r>
              <a:rPr lang="en-US" b="0" dirty="0"/>
              <a:t> </a:t>
            </a:r>
            <a:r>
              <a:rPr lang="en-US" b="0" dirty="0" err="1"/>
              <a:t>thể</a:t>
            </a:r>
            <a:r>
              <a:rPr lang="en-US" b="0" dirty="0"/>
              <a:t> </a:t>
            </a:r>
            <a:r>
              <a:rPr lang="en-US" b="0" dirty="0" err="1"/>
              <a:t>thu</a:t>
            </a:r>
            <a:r>
              <a:rPr lang="en-US" b="0" dirty="0"/>
              <a:t> </a:t>
            </a:r>
            <a:r>
              <a:rPr lang="en-US" b="0" dirty="0" err="1"/>
              <a:t>được</a:t>
            </a:r>
            <a:r>
              <a:rPr lang="en-US" b="0" dirty="0"/>
              <a:t> (</a:t>
            </a:r>
            <a:r>
              <a:rPr lang="en-US" b="0" dirty="0" err="1"/>
              <a:t>độ</a:t>
            </a:r>
            <a:r>
              <a:rPr lang="en-US" b="0" dirty="0"/>
              <a:t> </a:t>
            </a:r>
            <a:r>
              <a:rPr lang="en-US" b="0" dirty="0" err="1"/>
              <a:t>nhậy</a:t>
            </a:r>
            <a:r>
              <a:rPr lang="en-US" b="0" dirty="0"/>
              <a:t> </a:t>
            </a:r>
            <a:r>
              <a:rPr lang="en-US" b="0" dirty="0" err="1"/>
              <a:t>máy</a:t>
            </a:r>
            <a:r>
              <a:rPr lang="en-US" b="0" dirty="0"/>
              <a:t> </a:t>
            </a:r>
            <a:r>
              <a:rPr lang="en-US" b="0" dirty="0" err="1"/>
              <a:t>thu</a:t>
            </a:r>
            <a:r>
              <a:rPr lang="en-US" b="0" dirty="0"/>
              <a:t>) </a:t>
            </a:r>
            <a:r>
              <a:rPr lang="en-US" b="0" dirty="0" err="1"/>
              <a:t>đến</a:t>
            </a:r>
            <a:r>
              <a:rPr lang="en-US" b="0" dirty="0"/>
              <a:t> </a:t>
            </a:r>
            <a:r>
              <a:rPr lang="en-US" b="0" dirty="0" err="1"/>
              <a:t>mức</a:t>
            </a:r>
            <a:r>
              <a:rPr lang="en-US" b="0" dirty="0"/>
              <a:t> </a:t>
            </a:r>
            <a:r>
              <a:rPr lang="en-US" b="0" dirty="0" err="1"/>
              <a:t>tín</a:t>
            </a:r>
            <a:r>
              <a:rPr lang="en-US" b="0" dirty="0"/>
              <a:t> </a:t>
            </a:r>
            <a:r>
              <a:rPr lang="en-US" b="0" dirty="0" err="1"/>
              <a:t>hiệu</a:t>
            </a:r>
            <a:r>
              <a:rPr lang="en-US" b="0" dirty="0"/>
              <a:t> </a:t>
            </a:r>
            <a:r>
              <a:rPr lang="en-US" b="0" dirty="0" err="1"/>
              <a:t>cao</a:t>
            </a:r>
            <a:r>
              <a:rPr lang="en-US" b="0" dirty="0"/>
              <a:t> </a:t>
            </a:r>
            <a:r>
              <a:rPr lang="en-US" b="0" dirty="0" err="1"/>
              <a:t>nhất</a:t>
            </a:r>
            <a:r>
              <a:rPr lang="en-US" b="0" dirty="0"/>
              <a:t> </a:t>
            </a:r>
            <a:r>
              <a:rPr lang="en-US" b="0" dirty="0" err="1"/>
              <a:t>mà</a:t>
            </a:r>
            <a:r>
              <a:rPr lang="en-US" b="0" dirty="0"/>
              <a:t> </a:t>
            </a:r>
            <a:r>
              <a:rPr lang="en-US" b="0" dirty="0" err="1"/>
              <a:t>máy</a:t>
            </a:r>
            <a:r>
              <a:rPr lang="en-US" b="0" dirty="0"/>
              <a:t> </a:t>
            </a:r>
            <a:r>
              <a:rPr lang="en-US" b="0" dirty="0" err="1"/>
              <a:t>thu</a:t>
            </a:r>
            <a:r>
              <a:rPr lang="en-US" b="0" dirty="0"/>
              <a:t> </a:t>
            </a:r>
            <a:r>
              <a:rPr lang="en-US" b="0" dirty="0" err="1"/>
              <a:t>vẫn</a:t>
            </a:r>
            <a:r>
              <a:rPr lang="en-US" b="0" dirty="0"/>
              <a:t> </a:t>
            </a:r>
            <a:r>
              <a:rPr lang="en-US" b="0" dirty="0" err="1"/>
              <a:t>làm</a:t>
            </a:r>
            <a:r>
              <a:rPr lang="en-US" b="0" dirty="0"/>
              <a:t> </a:t>
            </a:r>
            <a:r>
              <a:rPr lang="en-US" b="0" dirty="0" err="1"/>
              <a:t>việc</a:t>
            </a:r>
            <a:r>
              <a:rPr lang="en-US" b="0" dirty="0"/>
              <a:t> </a:t>
            </a:r>
            <a:r>
              <a:rPr lang="en-US" b="0" dirty="0" err="1"/>
              <a:t>bình</a:t>
            </a:r>
            <a:r>
              <a:rPr lang="en-US" b="0" dirty="0"/>
              <a:t> </a:t>
            </a:r>
            <a:r>
              <a:rPr lang="en-US" b="0" dirty="0" err="1"/>
              <a:t>thường</a:t>
            </a:r>
            <a:endParaRPr lang="en-US" b="0" dirty="0"/>
          </a:p>
          <a:p>
            <a:pPr marL="0" indent="0">
              <a:buNone/>
            </a:pPr>
            <a:r>
              <a:rPr lang="en-US" b="0" dirty="0" err="1"/>
              <a:t>Chú</a:t>
            </a:r>
            <a:r>
              <a:rPr lang="en-US" b="0" dirty="0"/>
              <a:t> ý: </a:t>
            </a:r>
            <a:r>
              <a:rPr lang="en-US" b="0" dirty="0" err="1"/>
              <a:t>Đặc</a:t>
            </a:r>
            <a:r>
              <a:rPr lang="en-US" b="0" dirty="0"/>
              <a:t> </a:t>
            </a:r>
            <a:r>
              <a:rPr lang="en-US" b="0" dirty="0" err="1"/>
              <a:t>tuyến</a:t>
            </a:r>
            <a:r>
              <a:rPr lang="en-US" b="0" dirty="0"/>
              <a:t> V_A </a:t>
            </a:r>
            <a:r>
              <a:rPr lang="en-US" b="0" dirty="0" err="1"/>
              <a:t>của</a:t>
            </a:r>
            <a:r>
              <a:rPr lang="en-US" b="0" dirty="0"/>
              <a:t> </a:t>
            </a:r>
            <a:r>
              <a:rPr lang="en-US" b="0" dirty="0" err="1"/>
              <a:t>đèn</a:t>
            </a:r>
            <a:r>
              <a:rPr lang="en-US" b="0" dirty="0"/>
              <a:t>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tử</a:t>
            </a:r>
            <a:r>
              <a:rPr lang="en-US" b="0" dirty="0"/>
              <a:t>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đèn</a:t>
            </a:r>
            <a:r>
              <a:rPr lang="en-US" b="0" dirty="0"/>
              <a:t> </a:t>
            </a:r>
            <a:r>
              <a:rPr lang="en-US" b="0" dirty="0" err="1"/>
              <a:t>bán</a:t>
            </a:r>
            <a:r>
              <a:rPr lang="en-US" b="0" dirty="0"/>
              <a:t> </a:t>
            </a:r>
            <a:r>
              <a:rPr lang="en-US" b="0" dirty="0" err="1"/>
              <a:t>dẫn</a:t>
            </a:r>
            <a:r>
              <a:rPr lang="en-US" b="0" dirty="0"/>
              <a:t> </a:t>
            </a:r>
            <a:r>
              <a:rPr lang="en-US" b="0" dirty="0" err="1"/>
              <a:t>có</a:t>
            </a:r>
            <a:r>
              <a:rPr lang="en-US" b="0" dirty="0"/>
              <a:t> </a:t>
            </a:r>
            <a:r>
              <a:rPr lang="en-US" b="0" dirty="0" err="1"/>
              <a:t>đoạn</a:t>
            </a:r>
            <a:r>
              <a:rPr lang="en-US" b="0" dirty="0"/>
              <a:t> </a:t>
            </a:r>
            <a:r>
              <a:rPr lang="en-US" b="0" dirty="0" err="1"/>
              <a:t>tuyến</a:t>
            </a:r>
            <a:r>
              <a:rPr lang="en-US" b="0" dirty="0"/>
              <a:t> </a:t>
            </a:r>
            <a:r>
              <a:rPr lang="en-US" b="0" dirty="0" err="1"/>
              <a:t>tính</a:t>
            </a:r>
            <a:r>
              <a:rPr lang="en-US" b="0" dirty="0"/>
              <a:t>, </a:t>
            </a:r>
            <a:r>
              <a:rPr lang="en-US" b="0" dirty="0" err="1"/>
              <a:t>có</a:t>
            </a:r>
            <a:r>
              <a:rPr lang="en-US" b="0" dirty="0"/>
              <a:t> </a:t>
            </a:r>
            <a:r>
              <a:rPr lang="en-US" b="0" dirty="0" err="1"/>
              <a:t>đoạn</a:t>
            </a:r>
            <a:r>
              <a:rPr lang="en-US" b="0" dirty="0"/>
              <a:t> phi </a:t>
            </a:r>
            <a:r>
              <a:rPr lang="en-US" b="0" dirty="0" err="1"/>
              <a:t>tuyến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B1CE-BF7C-D572-BBF1-D2C74137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A8EDF0E-DC3F-4ED5-FE69-C7AE89A4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3429000" cy="283845"/>
          </a:xfrm>
        </p:spPr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HTVT</a:t>
            </a:r>
          </a:p>
        </p:txBody>
      </p:sp>
    </p:spTree>
    <p:extLst>
      <p:ext uri="{BB962C8B-B14F-4D97-AF65-F5344CB8AC3E}">
        <p14:creationId xmlns:p14="http://schemas.microsoft.com/office/powerpoint/2010/main" val="4057021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879929-E2A1-FA28-7FB3-F5A341F1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0484"/>
            <a:ext cx="7104888" cy="4835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1.5.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tuyến</a:t>
            </a:r>
            <a:endParaRPr lang="en-US" dirty="0"/>
          </a:p>
          <a:p>
            <a:pPr marL="0" indent="0">
              <a:buNone/>
            </a:pPr>
            <a:r>
              <a:rPr lang="en-US" b="0" dirty="0"/>
              <a:t>Sinh </a:t>
            </a:r>
            <a:r>
              <a:rPr lang="en-US" b="0" dirty="0" err="1"/>
              <a:t>viên</a:t>
            </a:r>
            <a:r>
              <a:rPr lang="en-US" b="0" dirty="0"/>
              <a:t> </a:t>
            </a:r>
            <a:r>
              <a:rPr lang="en-US" b="0" dirty="0" err="1"/>
              <a:t>cho</a:t>
            </a:r>
            <a:r>
              <a:rPr lang="en-US" b="0" dirty="0"/>
              <a:t> </a:t>
            </a:r>
            <a:r>
              <a:rPr lang="en-US" b="0" dirty="0" err="1"/>
              <a:t>ví</a:t>
            </a:r>
            <a:r>
              <a:rPr lang="en-US" b="0" dirty="0"/>
              <a:t> </a:t>
            </a:r>
            <a:r>
              <a:rPr lang="en-US" b="0" dirty="0" err="1"/>
              <a:t>dụ</a:t>
            </a:r>
            <a:r>
              <a:rPr lang="en-US" b="0" dirty="0"/>
              <a:t> </a:t>
            </a:r>
            <a:r>
              <a:rPr lang="en-US" b="0" dirty="0" err="1"/>
              <a:t>cụ</a:t>
            </a:r>
            <a:r>
              <a:rPr lang="en-US" b="0" dirty="0"/>
              <a:t> </a:t>
            </a:r>
            <a:r>
              <a:rPr lang="en-US" b="0" dirty="0" err="1"/>
              <a:t>thể</a:t>
            </a:r>
            <a:endParaRPr lang="en-US" b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C84CB-FBE4-00D1-18AC-E80889FE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HTVT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2BEB-B8C1-450B-B6B0-84669C56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682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CONTENT&amp;quot;&quot;/&gt;&lt;property id=&quot;20307&quot; value=&quot;258&quot;/&gt;&lt;/object&gt;&lt;object type=&quot;3&quot; unique_id=&quot;10006&quot;&gt;&lt;property id=&quot;20148&quot; value=&quot;5&quot;/&gt;&lt;property id=&quot;20300&quot; value=&quot;Slide 3&quot;/&gt;&lt;property id=&quot;20307&quot; value=&quot;260&quot;/&gt;&lt;/object&gt;&lt;object type=&quot;3&quot; unique_id=&quot;10007&quot;&gt;&lt;property id=&quot;20148&quot; value=&quot;5&quot;/&gt;&lt;property id=&quot;20300&quot; value=&quot;Slide 4&quot;/&gt;&lt;property id=&quot;20307&quot; value=&quot;261&quot;/&gt;&lt;/object&gt;&lt;object type=&quot;3&quot; unique_id=&quot;10008&quot;&gt;&lt;property id=&quot;20148&quot; value=&quot;5&quot;/&gt;&lt;property id=&quot;20300&quot; value=&quot;Slide 5&quot;/&gt;&lt;property id=&quot;20307&quot; value=&quot;262&quot;/&gt;&lt;/object&gt;&lt;object type=&quot;3&quot; unique_id=&quot;10009&quot;&gt;&lt;property id=&quot;20148&quot; value=&quot;5&quot;/&gt;&lt;property id=&quot;20300&quot; value=&quot;Slide 6&quot;/&gt;&lt;property id=&quot;20307&quot; value=&quot;263&quot;/&gt;&lt;/object&gt;&lt;object type=&quot;3&quot; unique_id=&quot;10010&quot;&gt;&lt;property id=&quot;20148&quot; value=&quot;5&quot;/&gt;&lt;property id=&quot;20300&quot; value=&quot;Slide 7&quot;/&gt;&lt;property id=&quot;20307&quot; value=&quot;264&quot;/&gt;&lt;/object&gt;&lt;object type=&quot;3&quot; unique_id=&quot;10014&quot;&gt;&lt;property id=&quot;20148&quot; value=&quot;5&quot;/&gt;&lt;property id=&quot;20300&quot; value=&quot;Slide 8&quot;/&gt;&lt;property id=&quot;20307&quot; value=&quot;267&quot;/&gt;&lt;/object&gt;&lt;object type=&quot;3&quot; unique_id=&quot;10017&quot;&gt;&lt;property id=&quot;20148&quot; value=&quot;5&quot;/&gt;&lt;property id=&quot;20300&quot; value=&quot;Slide 18&quot;/&gt;&lt;property id=&quot;20307&quot; value=&quot;270&quot;/&gt;&lt;/object&gt;&lt;object type=&quot;3&quot; unique_id=&quot;10451&quot;&gt;&lt;property id=&quot;20148&quot; value=&quot;5&quot;/&gt;&lt;property id=&quot;20300&quot; value=&quot;Slide 9&quot;/&gt;&lt;property id=&quot;20307&quot; value=&quot;273&quot;/&gt;&lt;/object&gt;&lt;object type=&quot;3&quot; unique_id=&quot;10903&quot;&gt;&lt;property id=&quot;20148&quot; value=&quot;5&quot;/&gt;&lt;property id=&quot;20300&quot; value=&quot;Slide 11&quot;/&gt;&lt;property id=&quot;20307&quot; value=&quot;276&quot;/&gt;&lt;/object&gt;&lt;object type=&quot;3&quot; unique_id=&quot;1166415&quot;&gt;&lt;property id=&quot;20148&quot; value=&quot;5&quot;/&gt;&lt;property id=&quot;20300&quot; value=&quot;Slide 10&quot;/&gt;&lt;property id=&quot;20307&quot; value=&quot;277&quot;/&gt;&lt;/object&gt;&lt;object type=&quot;3&quot; unique_id=&quot;1166476&quot;&gt;&lt;property id=&quot;20148&quot; value=&quot;5&quot;/&gt;&lt;property id=&quot;20300&quot; value=&quot;Slide 12&quot;/&gt;&lt;property id=&quot;20307&quot; value=&quot;286&quot;/&gt;&lt;/object&gt;&lt;object type=&quot;3&quot; unique_id=&quot;1166642&quot;&gt;&lt;property id=&quot;20148&quot; value=&quot;5&quot;/&gt;&lt;property id=&quot;20300&quot; value=&quot;Slide 13&quot;/&gt;&lt;property id=&quot;20307&quot; value=&quot;281&quot;/&gt;&lt;/object&gt;&lt;object type=&quot;3&quot; unique_id=&quot;1166643&quot;&gt;&lt;property id=&quot;20148&quot; value=&quot;5&quot;/&gt;&lt;property id=&quot;20300&quot; value=&quot;Slide 14&quot;/&gt;&lt;property id=&quot;20307&quot; value=&quot;288&quot;/&gt;&lt;/object&gt;&lt;object type=&quot;3&quot; unique_id=&quot;1166644&quot;&gt;&lt;property id=&quot;20148&quot; value=&quot;5&quot;/&gt;&lt;property id=&quot;20300&quot; value=&quot;Slide 15&quot;/&gt;&lt;property id=&quot;20307&quot; value=&quot;289&quot;/&gt;&lt;/object&gt;&lt;object type=&quot;3&quot; unique_id=&quot;1166645&quot;&gt;&lt;property id=&quot;20148&quot; value=&quot;5&quot;/&gt;&lt;property id=&quot;20300&quot; value=&quot;Slide 16&quot;/&gt;&lt;property id=&quot;20307&quot; value=&quot;285&quot;/&gt;&lt;/object&gt;&lt;object type=&quot;3&quot; unique_id=&quot;1166646&quot;&gt;&lt;property id=&quot;20148&quot; value=&quot;5&quot;/&gt;&lt;property id=&quot;20300&quot; value=&quot;Slide 17&quot;/&gt;&lt;property id=&quot;20307&quot; value=&quot;291&quot;/&gt;&lt;/object&gt;&lt;/object&gt;&lt;object type=&quot;8&quot; unique_id=&quot;10034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071AB2BE2774A9C6F5D2B7BD14EDC" ma:contentTypeVersion="12" ma:contentTypeDescription="Create a new document." ma:contentTypeScope="" ma:versionID="a5f0e81f927b551c3c32385215b4a772">
  <xsd:schema xmlns:xsd="http://www.w3.org/2001/XMLSchema" xmlns:xs="http://www.w3.org/2001/XMLSchema" xmlns:p="http://schemas.microsoft.com/office/2006/metadata/properties" xmlns:ns2="76c39492-0838-4393-a9cb-f762ec560696" xmlns:ns3="10c0e146-7933-430d-95e9-7a57eeef4b51" targetNamespace="http://schemas.microsoft.com/office/2006/metadata/properties" ma:root="true" ma:fieldsID="eef2dfc9304f027e92937f3f644ead54" ns2:_="" ns3:_="">
    <xsd:import namespace="76c39492-0838-4393-a9cb-f762ec560696"/>
    <xsd:import namespace="10c0e146-7933-430d-95e9-7a57eeef4b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39492-0838-4393-a9cb-f762ec560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0e146-7933-430d-95e9-7a57eeef4b5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9fe5d71-36d0-44db-8c49-8726554bd002}" ma:internalName="TaxCatchAll" ma:showField="CatchAllData" ma:web="10c0e146-7933-430d-95e9-7a57eeef4b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c0e146-7933-430d-95e9-7a57eeef4b51" xsi:nil="true"/>
    <lcf76f155ced4ddcb4097134ff3c332f xmlns="76c39492-0838-4393-a9cb-f762ec5606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3C5FEE-417E-4732-B04A-F6352BAB9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c39492-0838-4393-a9cb-f762ec560696"/>
    <ds:schemaRef ds:uri="10c0e146-7933-430d-95e9-7a57eeef4b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0CF725-28D1-47B1-8519-A1906D559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EF8AF4-6609-4BFA-9A28-F714DC635480}">
  <ds:schemaRefs>
    <ds:schemaRef ds:uri="caa1b16a-a8f8-4463-89e0-0b22ac182062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91781773-cf10-4f2f-83f1-f92ceadca312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10c0e146-7933-430d-95e9-7a57eeef4b51"/>
    <ds:schemaRef ds:uri="76c39492-0838-4393-a9cb-f762ec56069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7459</TotalTime>
  <Words>918</Words>
  <Application>Microsoft Office PowerPoint</Application>
  <PresentationFormat>On-screen Show (4:3)</PresentationFormat>
  <Paragraphs>101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Essential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Hoang-hai Tran</dc:creator>
  <cp:lastModifiedBy>Lam Hong Thach</cp:lastModifiedBy>
  <cp:revision>399</cp:revision>
  <dcterms:created xsi:type="dcterms:W3CDTF">2016-05-07T23:28:48Z</dcterms:created>
  <dcterms:modified xsi:type="dcterms:W3CDTF">2025-02-10T08:53:56Z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0x0101004A4071AB2BE2774A9C6F5D2B7BD14EDC</vt:lpwstr>
  </property>
  <property fmtid="{D5CDD505-2E9C-101B-9397-08002B2CF9AE}" pid="3" name="MediaServiceImageTags">
    <vt:lpwstr/>
  </property>
</Properties>
</file>